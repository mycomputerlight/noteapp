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handoutMasterIdLst>
    <p:handoutMasterId r:id="rId52"/>
  </p:handoutMasterIdLst>
  <p:sldIdLst>
    <p:sldId id="256" r:id="rId2"/>
    <p:sldId id="457" r:id="rId3"/>
    <p:sldId id="455" r:id="rId4"/>
    <p:sldId id="497" r:id="rId5"/>
    <p:sldId id="498" r:id="rId6"/>
    <p:sldId id="499" r:id="rId7"/>
    <p:sldId id="500" r:id="rId8"/>
    <p:sldId id="501" r:id="rId9"/>
    <p:sldId id="502" r:id="rId10"/>
    <p:sldId id="456" r:id="rId11"/>
    <p:sldId id="503" r:id="rId12"/>
    <p:sldId id="537" r:id="rId13"/>
    <p:sldId id="506" r:id="rId14"/>
    <p:sldId id="531" r:id="rId15"/>
    <p:sldId id="530" r:id="rId16"/>
    <p:sldId id="532" r:id="rId17"/>
    <p:sldId id="508" r:id="rId18"/>
    <p:sldId id="510" r:id="rId19"/>
    <p:sldId id="511" r:id="rId20"/>
    <p:sldId id="512" r:id="rId21"/>
    <p:sldId id="513" r:id="rId22"/>
    <p:sldId id="514" r:id="rId23"/>
    <p:sldId id="515" r:id="rId24"/>
    <p:sldId id="516" r:id="rId25"/>
    <p:sldId id="517" r:id="rId26"/>
    <p:sldId id="518" r:id="rId27"/>
    <p:sldId id="566" r:id="rId28"/>
    <p:sldId id="545" r:id="rId29"/>
    <p:sldId id="524" r:id="rId30"/>
    <p:sldId id="570" r:id="rId31"/>
    <p:sldId id="525" r:id="rId32"/>
    <p:sldId id="571" r:id="rId33"/>
    <p:sldId id="526" r:id="rId34"/>
    <p:sldId id="575" r:id="rId35"/>
    <p:sldId id="576" r:id="rId36"/>
    <p:sldId id="573" r:id="rId37"/>
    <p:sldId id="523" r:id="rId38"/>
    <p:sldId id="520" r:id="rId39"/>
    <p:sldId id="521" r:id="rId40"/>
    <p:sldId id="522" r:id="rId41"/>
    <p:sldId id="527" r:id="rId42"/>
    <p:sldId id="529" r:id="rId43"/>
    <p:sldId id="528" r:id="rId44"/>
    <p:sldId id="567" r:id="rId45"/>
    <p:sldId id="572" r:id="rId46"/>
    <p:sldId id="574" r:id="rId47"/>
    <p:sldId id="568" r:id="rId48"/>
    <p:sldId id="569" r:id="rId49"/>
    <p:sldId id="266" r:id="rId50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07A"/>
    <a:srgbClr val="0443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Orta Stil 2 - Vurgu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8603FDC-E32A-4AB5-989C-0864C3EAD2B8}" styleName="Tema Uygulanmış Stil 2 - Vurgu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CAF9ED-07DC-4A11-8D7F-57B35C25682E}" styleName="Orta Stil 1 - Vurgu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C2FFA5D-87B4-456A-9821-1D502468CF0F}" styleName="Tema Uygulanmış Stil 1 - Vurgu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ema Uygulanmış Stil 1 - Vurgu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096112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0166E5-665B-4C36-8187-B85F12AEB723}" type="datetimeFigureOut">
              <a:rPr lang="tr-TR" smtClean="0"/>
              <a:t>16.03.2026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6130ED-A8A7-4991-9D0C-8D4B76E167C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8499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şlık Slaydı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ikdörtgen 13"/>
          <p:cNvSpPr/>
          <p:nvPr userDrawn="1"/>
        </p:nvSpPr>
        <p:spPr>
          <a:xfrm>
            <a:off x="0" y="6353543"/>
            <a:ext cx="12192000" cy="311921"/>
          </a:xfrm>
          <a:prstGeom prst="rect">
            <a:avLst/>
          </a:prstGeom>
          <a:solidFill>
            <a:srgbClr val="00407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>
          <a:xfrm>
            <a:off x="3355295" y="6387116"/>
            <a:ext cx="5481415" cy="2447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tr-TR" dirty="0"/>
              <a:t>Adıyaman Üniversitesi Uzaktan Eğitim Uygulama ve Araştırma Merkezi</a:t>
            </a:r>
          </a:p>
        </p:txBody>
      </p:sp>
      <p:sp>
        <p:nvSpPr>
          <p:cNvPr id="11" name="Dikdörtgen 10"/>
          <p:cNvSpPr/>
          <p:nvPr userDrawn="1"/>
        </p:nvSpPr>
        <p:spPr>
          <a:xfrm rot="16200000">
            <a:off x="5408348" y="-3519162"/>
            <a:ext cx="1375308" cy="12192001"/>
          </a:xfrm>
          <a:prstGeom prst="rect">
            <a:avLst/>
          </a:prstGeom>
          <a:solidFill>
            <a:srgbClr val="04436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grpSp>
        <p:nvGrpSpPr>
          <p:cNvPr id="17" name="Grup 16"/>
          <p:cNvGrpSpPr/>
          <p:nvPr userDrawn="1"/>
        </p:nvGrpSpPr>
        <p:grpSpPr>
          <a:xfrm>
            <a:off x="586529" y="1354476"/>
            <a:ext cx="2438964" cy="2438964"/>
            <a:chOff x="6974572" y="1076137"/>
            <a:chExt cx="2438964" cy="2438964"/>
          </a:xfrm>
        </p:grpSpPr>
        <p:sp>
          <p:nvSpPr>
            <p:cNvPr id="12" name="Oval 11"/>
            <p:cNvSpPr/>
            <p:nvPr userDrawn="1"/>
          </p:nvSpPr>
          <p:spPr>
            <a:xfrm rot="16200000">
              <a:off x="6974572" y="1076137"/>
              <a:ext cx="2438964" cy="2438964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40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pic>
          <p:nvPicPr>
            <p:cNvPr id="13" name="Resim 12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52324" y="1153890"/>
              <a:ext cx="2283459" cy="2283460"/>
            </a:xfrm>
            <a:prstGeom prst="rect">
              <a:avLst/>
            </a:prstGeom>
          </p:spPr>
        </p:pic>
      </p:grpSp>
      <p:sp>
        <p:nvSpPr>
          <p:cNvPr id="3" name="Alt Başlık 2"/>
          <p:cNvSpPr>
            <a:spLocks noGrp="1"/>
          </p:cNvSpPr>
          <p:nvPr>
            <p:ph type="subTitle" idx="1" hasCustomPrompt="1"/>
          </p:nvPr>
        </p:nvSpPr>
        <p:spPr>
          <a:xfrm>
            <a:off x="3083610" y="2380855"/>
            <a:ext cx="6024784" cy="391966"/>
          </a:xfr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 dirty="0"/>
              <a:t>DERS ADI</a:t>
            </a:r>
          </a:p>
        </p:txBody>
      </p:sp>
      <p:sp>
        <p:nvSpPr>
          <p:cNvPr id="20" name="Dikdörtgen 19"/>
          <p:cNvSpPr/>
          <p:nvPr userDrawn="1"/>
        </p:nvSpPr>
        <p:spPr>
          <a:xfrm>
            <a:off x="0" y="-57747"/>
            <a:ext cx="12192000" cy="57748"/>
          </a:xfrm>
          <a:prstGeom prst="rect">
            <a:avLst/>
          </a:prstGeom>
          <a:solidFill>
            <a:srgbClr val="00407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6" name="Metin Yer Tutucusu 25"/>
          <p:cNvSpPr>
            <a:spLocks noGrp="1"/>
          </p:cNvSpPr>
          <p:nvPr>
            <p:ph type="body" sz="quarter" idx="15" hasCustomPrompt="1"/>
          </p:nvPr>
        </p:nvSpPr>
        <p:spPr>
          <a:xfrm>
            <a:off x="1781177" y="3716338"/>
            <a:ext cx="8629650" cy="504825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tr-TR" dirty="0"/>
              <a:t>KONU</a:t>
            </a:r>
          </a:p>
        </p:txBody>
      </p:sp>
      <p:sp>
        <p:nvSpPr>
          <p:cNvPr id="27" name="Metin Yer Tutucusu 25"/>
          <p:cNvSpPr>
            <a:spLocks noGrp="1"/>
          </p:cNvSpPr>
          <p:nvPr>
            <p:ph type="body" sz="quarter" idx="16" hasCustomPrompt="1"/>
          </p:nvPr>
        </p:nvSpPr>
        <p:spPr>
          <a:xfrm>
            <a:off x="1781177" y="4313382"/>
            <a:ext cx="8629650" cy="504825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tr-TR" dirty="0"/>
              <a:t>Hafta</a:t>
            </a:r>
          </a:p>
        </p:txBody>
      </p:sp>
      <p:sp>
        <p:nvSpPr>
          <p:cNvPr id="28" name="Metin Yer Tutucusu 25"/>
          <p:cNvSpPr>
            <a:spLocks noGrp="1"/>
          </p:cNvSpPr>
          <p:nvPr>
            <p:ph type="body" sz="quarter" idx="17" hasCustomPrompt="1"/>
          </p:nvPr>
        </p:nvSpPr>
        <p:spPr>
          <a:xfrm>
            <a:off x="1781177" y="5396873"/>
            <a:ext cx="8629650" cy="504825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tr-TR" dirty="0"/>
              <a:t>Öğretim Elemanı</a:t>
            </a:r>
          </a:p>
        </p:txBody>
      </p:sp>
    </p:spTree>
    <p:extLst>
      <p:ext uri="{BB962C8B-B14F-4D97-AF65-F5344CB8AC3E}">
        <p14:creationId xmlns:p14="http://schemas.microsoft.com/office/powerpoint/2010/main" val="1172680105"/>
      </p:ext>
    </p:extLst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rs İzlence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ikdörtgen 6"/>
          <p:cNvSpPr/>
          <p:nvPr userDrawn="1"/>
        </p:nvSpPr>
        <p:spPr>
          <a:xfrm>
            <a:off x="0" y="6453287"/>
            <a:ext cx="12192000" cy="311921"/>
          </a:xfrm>
          <a:prstGeom prst="rect">
            <a:avLst/>
          </a:prstGeom>
          <a:solidFill>
            <a:srgbClr val="00407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799243" y="1811707"/>
            <a:ext cx="9863985" cy="4503217"/>
          </a:xfrm>
        </p:spPr>
        <p:txBody>
          <a:bodyPr>
            <a:normAutofit/>
          </a:bodyPr>
          <a:lstStyle>
            <a:lvl1pPr marL="514350" indent="-514350" algn="just">
              <a:buFont typeface="Wingdings" panose="05000000000000000000" pitchFamily="2" charset="2"/>
              <a:buChar char="§"/>
              <a:defRPr sz="2400">
                <a:solidFill>
                  <a:schemeClr val="tx2">
                    <a:lumMod val="75000"/>
                  </a:schemeClr>
                </a:solidFill>
              </a:defRPr>
            </a:lvl1pPr>
            <a:lvl2pPr algn="l">
              <a:defRPr>
                <a:solidFill>
                  <a:schemeClr val="tx2">
                    <a:lumMod val="75000"/>
                  </a:schemeClr>
                </a:solidFill>
              </a:defRPr>
            </a:lvl2pPr>
            <a:lvl3pPr algn="l">
              <a:defRPr>
                <a:solidFill>
                  <a:schemeClr val="tx2">
                    <a:lumMod val="75000"/>
                  </a:schemeClr>
                </a:solidFill>
              </a:defRPr>
            </a:lvl3pPr>
            <a:lvl4pPr algn="l">
              <a:defRPr>
                <a:solidFill>
                  <a:schemeClr val="tx2">
                    <a:lumMod val="75000"/>
                  </a:schemeClr>
                </a:solidFill>
              </a:defRPr>
            </a:lvl4pPr>
            <a:lvl5pPr algn="l">
              <a:defRPr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>
          <a:xfrm>
            <a:off x="525922" y="6510247"/>
            <a:ext cx="10395604" cy="19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tr-TR" dirty="0"/>
              <a:t>Adıyaman Üniversitesi Uzaktan Eğitim Uygulama ve Araştırma Merkezi</a:t>
            </a:r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>
          <a:xfrm>
            <a:off x="11049712" y="6510247"/>
            <a:ext cx="613516" cy="1903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D1B0A2A-BC36-407E-86B9-E24EEBA61DF3}" type="slidenum">
              <a:rPr lang="tr-TR" smtClean="0"/>
              <a:pPr/>
              <a:t>‹#›</a:t>
            </a:fld>
            <a:endParaRPr lang="tr-TR" dirty="0"/>
          </a:p>
        </p:txBody>
      </p:sp>
      <p:grpSp>
        <p:nvGrpSpPr>
          <p:cNvPr id="19" name="Grup 18"/>
          <p:cNvGrpSpPr/>
          <p:nvPr userDrawn="1"/>
        </p:nvGrpSpPr>
        <p:grpSpPr>
          <a:xfrm>
            <a:off x="444735" y="0"/>
            <a:ext cx="1273323" cy="1431416"/>
            <a:chOff x="444735" y="0"/>
            <a:chExt cx="1273323" cy="1431416"/>
          </a:xfrm>
        </p:grpSpPr>
        <p:sp>
          <p:nvSpPr>
            <p:cNvPr id="14" name="Dikdörtgen 13"/>
            <p:cNvSpPr/>
            <p:nvPr userDrawn="1"/>
          </p:nvSpPr>
          <p:spPr>
            <a:xfrm>
              <a:off x="525921" y="0"/>
              <a:ext cx="1110953" cy="1110953"/>
            </a:xfrm>
            <a:prstGeom prst="rect">
              <a:avLst/>
            </a:prstGeom>
            <a:solidFill>
              <a:srgbClr val="04436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16" name="Oval 15"/>
            <p:cNvSpPr/>
            <p:nvPr userDrawn="1"/>
          </p:nvSpPr>
          <p:spPr>
            <a:xfrm>
              <a:off x="444735" y="158093"/>
              <a:ext cx="1273323" cy="127332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40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pic>
          <p:nvPicPr>
            <p:cNvPr id="17" name="Resim 16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5327" y="198685"/>
              <a:ext cx="1192138" cy="1192138"/>
            </a:xfrm>
            <a:prstGeom prst="rect">
              <a:avLst/>
            </a:prstGeom>
          </p:spPr>
        </p:pic>
      </p:grpSp>
      <p:cxnSp>
        <p:nvCxnSpPr>
          <p:cNvPr id="23" name="Düz Bağlayıcı 22"/>
          <p:cNvCxnSpPr/>
          <p:nvPr userDrawn="1"/>
        </p:nvCxnSpPr>
        <p:spPr>
          <a:xfrm>
            <a:off x="1803163" y="1390823"/>
            <a:ext cx="9860065" cy="0"/>
          </a:xfrm>
          <a:prstGeom prst="line">
            <a:avLst/>
          </a:prstGeom>
          <a:ln w="28575">
            <a:solidFill>
              <a:srgbClr val="0040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Metin kutusu 14"/>
          <p:cNvSpPr txBox="1"/>
          <p:nvPr userDrawn="1"/>
        </p:nvSpPr>
        <p:spPr>
          <a:xfrm>
            <a:off x="1799243" y="581117"/>
            <a:ext cx="98639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Ders</a:t>
            </a:r>
            <a:r>
              <a:rPr lang="tr-TR" sz="3600" b="1" baseline="0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İzlencesi</a:t>
            </a:r>
            <a:endParaRPr lang="tr-TR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66552200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ikdörtgen 6"/>
          <p:cNvSpPr/>
          <p:nvPr userDrawn="1"/>
        </p:nvSpPr>
        <p:spPr>
          <a:xfrm>
            <a:off x="0" y="6453287"/>
            <a:ext cx="12192000" cy="311921"/>
          </a:xfrm>
          <a:prstGeom prst="rect">
            <a:avLst/>
          </a:prstGeom>
          <a:solidFill>
            <a:srgbClr val="00407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799244" y="484067"/>
            <a:ext cx="9863984" cy="900351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3600" b="1">
                <a:solidFill>
                  <a:schemeClr val="tx2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tr-TR"/>
              <a:t>Asıl başlık stili için tıklatın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28771" y="1582383"/>
            <a:ext cx="11134458" cy="4732542"/>
          </a:xfrm>
        </p:spPr>
        <p:txBody>
          <a:bodyPr/>
          <a:lstStyle>
            <a:lvl1pPr algn="just">
              <a:lnSpc>
                <a:spcPct val="100000"/>
              </a:lnSpc>
              <a:defRPr sz="2600">
                <a:solidFill>
                  <a:schemeClr val="tx2">
                    <a:lumMod val="75000"/>
                  </a:schemeClr>
                </a:solidFill>
              </a:defRPr>
            </a:lvl1pPr>
            <a:lvl2pPr algn="l">
              <a:defRPr sz="2400">
                <a:solidFill>
                  <a:schemeClr val="tx2">
                    <a:lumMod val="75000"/>
                  </a:schemeClr>
                </a:solidFill>
              </a:defRPr>
            </a:lvl2pPr>
            <a:lvl3pPr algn="l">
              <a:defRPr sz="1800">
                <a:solidFill>
                  <a:schemeClr val="tx2">
                    <a:lumMod val="75000"/>
                  </a:schemeClr>
                </a:solidFill>
              </a:defRPr>
            </a:lvl3pPr>
            <a:lvl4pPr algn="l">
              <a:defRPr>
                <a:solidFill>
                  <a:schemeClr val="tx2">
                    <a:lumMod val="75000"/>
                  </a:schemeClr>
                </a:solidFill>
              </a:defRPr>
            </a:lvl4pPr>
            <a:lvl5pPr algn="l">
              <a:defRPr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tr-TR" dirty="0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>
          <a:xfrm>
            <a:off x="525922" y="6510247"/>
            <a:ext cx="10395604" cy="19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tr-TR" dirty="0"/>
              <a:t>Adıyaman Üniversitesi Uzaktan Eğitim Uygulama ve Araştırma Merkezi</a:t>
            </a:r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>
          <a:xfrm>
            <a:off x="11049712" y="6510247"/>
            <a:ext cx="613516" cy="1903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D1B0A2A-BC36-407E-86B9-E24EEBA61DF3}" type="slidenum">
              <a:rPr lang="tr-TR" smtClean="0"/>
              <a:pPr/>
              <a:t>‹#›</a:t>
            </a:fld>
            <a:endParaRPr lang="tr-TR" dirty="0"/>
          </a:p>
        </p:txBody>
      </p:sp>
      <p:grpSp>
        <p:nvGrpSpPr>
          <p:cNvPr id="19" name="Grup 18"/>
          <p:cNvGrpSpPr/>
          <p:nvPr userDrawn="1"/>
        </p:nvGrpSpPr>
        <p:grpSpPr>
          <a:xfrm>
            <a:off x="444735" y="0"/>
            <a:ext cx="1273323" cy="1431416"/>
            <a:chOff x="444735" y="0"/>
            <a:chExt cx="1273323" cy="1431416"/>
          </a:xfrm>
        </p:grpSpPr>
        <p:sp>
          <p:nvSpPr>
            <p:cNvPr id="14" name="Dikdörtgen 13"/>
            <p:cNvSpPr/>
            <p:nvPr userDrawn="1"/>
          </p:nvSpPr>
          <p:spPr>
            <a:xfrm>
              <a:off x="525921" y="0"/>
              <a:ext cx="1110953" cy="1110953"/>
            </a:xfrm>
            <a:prstGeom prst="rect">
              <a:avLst/>
            </a:prstGeom>
            <a:solidFill>
              <a:srgbClr val="04436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16" name="Oval 15"/>
            <p:cNvSpPr/>
            <p:nvPr userDrawn="1"/>
          </p:nvSpPr>
          <p:spPr>
            <a:xfrm>
              <a:off x="444735" y="158093"/>
              <a:ext cx="1273323" cy="127332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40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pic>
          <p:nvPicPr>
            <p:cNvPr id="17" name="Resim 16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5327" y="198685"/>
              <a:ext cx="1192138" cy="1192138"/>
            </a:xfrm>
            <a:prstGeom prst="rect">
              <a:avLst/>
            </a:prstGeom>
          </p:spPr>
        </p:pic>
      </p:grpSp>
      <p:cxnSp>
        <p:nvCxnSpPr>
          <p:cNvPr id="23" name="Düz Bağlayıcı 22"/>
          <p:cNvCxnSpPr/>
          <p:nvPr userDrawn="1"/>
        </p:nvCxnSpPr>
        <p:spPr>
          <a:xfrm>
            <a:off x="1803163" y="1390823"/>
            <a:ext cx="9860065" cy="0"/>
          </a:xfrm>
          <a:prstGeom prst="line">
            <a:avLst/>
          </a:prstGeom>
          <a:ln w="28575">
            <a:solidFill>
              <a:srgbClr val="0040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1025196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İkili içerik düze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ikdörtgen 6"/>
          <p:cNvSpPr/>
          <p:nvPr userDrawn="1"/>
        </p:nvSpPr>
        <p:spPr>
          <a:xfrm>
            <a:off x="0" y="6453287"/>
            <a:ext cx="12192000" cy="311921"/>
          </a:xfrm>
          <a:prstGeom prst="rect">
            <a:avLst/>
          </a:prstGeom>
          <a:solidFill>
            <a:srgbClr val="00407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799244" y="484067"/>
            <a:ext cx="9863984" cy="900351"/>
          </a:xfrm>
        </p:spPr>
        <p:txBody>
          <a:bodyPr>
            <a:normAutofit/>
          </a:bodyPr>
          <a:lstStyle>
            <a:lvl1pPr algn="ctr">
              <a:defRPr sz="3600" b="1">
                <a:solidFill>
                  <a:schemeClr val="tx2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tr-TR"/>
              <a:t>Asıl başlık stili için tıklatın</a:t>
            </a:r>
            <a:endParaRPr lang="tr-TR" dirty="0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>
          <a:xfrm>
            <a:off x="525922" y="6510247"/>
            <a:ext cx="10395604" cy="19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tr-TR" dirty="0"/>
              <a:t>Adıyaman Üniversitesi Uzaktan Eğitim Uygulama ve Araştırma Merkezi</a:t>
            </a:r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>
          <a:xfrm>
            <a:off x="11049712" y="6510247"/>
            <a:ext cx="613516" cy="1903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D1B0A2A-BC36-407E-86B9-E24EEBA61DF3}" type="slidenum">
              <a:rPr lang="tr-TR" smtClean="0"/>
              <a:pPr/>
              <a:t>‹#›</a:t>
            </a:fld>
            <a:endParaRPr lang="tr-TR" dirty="0"/>
          </a:p>
        </p:txBody>
      </p:sp>
      <p:grpSp>
        <p:nvGrpSpPr>
          <p:cNvPr id="19" name="Grup 18"/>
          <p:cNvGrpSpPr/>
          <p:nvPr userDrawn="1"/>
        </p:nvGrpSpPr>
        <p:grpSpPr>
          <a:xfrm>
            <a:off x="444735" y="0"/>
            <a:ext cx="1273323" cy="1431416"/>
            <a:chOff x="444735" y="0"/>
            <a:chExt cx="1273323" cy="1431416"/>
          </a:xfrm>
        </p:grpSpPr>
        <p:sp>
          <p:nvSpPr>
            <p:cNvPr id="14" name="Dikdörtgen 13"/>
            <p:cNvSpPr/>
            <p:nvPr userDrawn="1"/>
          </p:nvSpPr>
          <p:spPr>
            <a:xfrm>
              <a:off x="525921" y="0"/>
              <a:ext cx="1110953" cy="1110953"/>
            </a:xfrm>
            <a:prstGeom prst="rect">
              <a:avLst/>
            </a:prstGeom>
            <a:solidFill>
              <a:srgbClr val="04436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16" name="Oval 15"/>
            <p:cNvSpPr/>
            <p:nvPr userDrawn="1"/>
          </p:nvSpPr>
          <p:spPr>
            <a:xfrm>
              <a:off x="444735" y="158093"/>
              <a:ext cx="1273323" cy="127332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40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pic>
          <p:nvPicPr>
            <p:cNvPr id="17" name="Resim 16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5327" y="198685"/>
              <a:ext cx="1192138" cy="1192138"/>
            </a:xfrm>
            <a:prstGeom prst="rect">
              <a:avLst/>
            </a:prstGeom>
          </p:spPr>
        </p:pic>
      </p:grpSp>
      <p:cxnSp>
        <p:nvCxnSpPr>
          <p:cNvPr id="23" name="Düz Bağlayıcı 22"/>
          <p:cNvCxnSpPr/>
          <p:nvPr userDrawn="1"/>
        </p:nvCxnSpPr>
        <p:spPr>
          <a:xfrm>
            <a:off x="1803163" y="1390823"/>
            <a:ext cx="9860065" cy="0"/>
          </a:xfrm>
          <a:prstGeom prst="line">
            <a:avLst/>
          </a:prstGeom>
          <a:ln w="28575">
            <a:solidFill>
              <a:srgbClr val="0040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İçerik Yer Tutucusu 2"/>
          <p:cNvSpPr>
            <a:spLocks noGrp="1"/>
          </p:cNvSpPr>
          <p:nvPr>
            <p:ph sz="half" idx="1"/>
          </p:nvPr>
        </p:nvSpPr>
        <p:spPr>
          <a:xfrm>
            <a:off x="485327" y="1597641"/>
            <a:ext cx="5471092" cy="4615153"/>
          </a:xfrm>
        </p:spPr>
        <p:txBody>
          <a:bodyPr/>
          <a:lstStyle>
            <a:lvl1pPr algn="just">
              <a:defRPr sz="2400">
                <a:solidFill>
                  <a:schemeClr val="tx2">
                    <a:lumMod val="75000"/>
                  </a:schemeClr>
                </a:solidFill>
              </a:defRPr>
            </a:lvl1pPr>
            <a:lvl2pPr>
              <a:defRPr>
                <a:solidFill>
                  <a:schemeClr val="tx2">
                    <a:lumMod val="75000"/>
                  </a:schemeClr>
                </a:solidFill>
              </a:defRPr>
            </a:lvl2pPr>
            <a:lvl3pPr>
              <a:defRPr>
                <a:solidFill>
                  <a:schemeClr val="tx2">
                    <a:lumMod val="75000"/>
                  </a:schemeClr>
                </a:solidFill>
              </a:defRPr>
            </a:lvl3pPr>
            <a:lvl4pPr>
              <a:defRPr>
                <a:solidFill>
                  <a:schemeClr val="tx2">
                    <a:lumMod val="75000"/>
                  </a:schemeClr>
                </a:solidFill>
              </a:defRPr>
            </a:lvl4pPr>
            <a:lvl5pPr>
              <a:defRPr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tr-TR" dirty="0"/>
          </a:p>
        </p:txBody>
      </p:sp>
      <p:sp>
        <p:nvSpPr>
          <p:cNvPr id="13" name="İçerik Yer Tutucusu 3"/>
          <p:cNvSpPr>
            <a:spLocks noGrp="1"/>
          </p:cNvSpPr>
          <p:nvPr>
            <p:ph sz="half" idx="2"/>
          </p:nvPr>
        </p:nvSpPr>
        <p:spPr>
          <a:xfrm>
            <a:off x="6191228" y="1597640"/>
            <a:ext cx="5472000" cy="4615153"/>
          </a:xfrm>
        </p:spPr>
        <p:txBody>
          <a:bodyPr/>
          <a:lstStyle>
            <a:lvl1pPr algn="just">
              <a:defRPr sz="2400">
                <a:solidFill>
                  <a:schemeClr val="tx2">
                    <a:lumMod val="75000"/>
                  </a:schemeClr>
                </a:solidFill>
              </a:defRPr>
            </a:lvl1pPr>
            <a:lvl2pPr>
              <a:defRPr>
                <a:solidFill>
                  <a:schemeClr val="tx2">
                    <a:lumMod val="75000"/>
                  </a:schemeClr>
                </a:solidFill>
              </a:defRPr>
            </a:lvl2pPr>
            <a:lvl3pPr>
              <a:defRPr>
                <a:solidFill>
                  <a:schemeClr val="tx2">
                    <a:lumMod val="75000"/>
                  </a:schemeClr>
                </a:solidFill>
              </a:defRPr>
            </a:lvl3pPr>
            <a:lvl4pPr>
              <a:defRPr>
                <a:solidFill>
                  <a:schemeClr val="tx2">
                    <a:lumMod val="75000"/>
                  </a:schemeClr>
                </a:solidFill>
              </a:defRPr>
            </a:lvl4pPr>
            <a:lvl5pPr>
              <a:defRPr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261548840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im (solda)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ikdörtgen 6"/>
          <p:cNvSpPr/>
          <p:nvPr userDrawn="1"/>
        </p:nvSpPr>
        <p:spPr>
          <a:xfrm>
            <a:off x="0" y="6453287"/>
            <a:ext cx="12192000" cy="311921"/>
          </a:xfrm>
          <a:prstGeom prst="rect">
            <a:avLst/>
          </a:prstGeom>
          <a:solidFill>
            <a:srgbClr val="00407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799244" y="484067"/>
            <a:ext cx="9863984" cy="900351"/>
          </a:xfrm>
        </p:spPr>
        <p:txBody>
          <a:bodyPr>
            <a:normAutofit/>
          </a:bodyPr>
          <a:lstStyle>
            <a:lvl1pPr algn="ctr">
              <a:defRPr sz="3600" b="1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tr-TR"/>
              <a:t>Asıl başlık stili için tıklatın</a:t>
            </a:r>
            <a:endParaRPr lang="tr-TR" dirty="0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>
          <a:xfrm>
            <a:off x="525922" y="6510247"/>
            <a:ext cx="10395604" cy="19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tr-TR" dirty="0"/>
              <a:t>Adıyaman Üniversitesi Uzaktan Eğitim Uygulama ve Araştırma Merkezi</a:t>
            </a:r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>
          <a:xfrm>
            <a:off x="11049712" y="6510247"/>
            <a:ext cx="613516" cy="1903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D1B0A2A-BC36-407E-86B9-E24EEBA61DF3}" type="slidenum">
              <a:rPr lang="tr-TR" smtClean="0"/>
              <a:pPr/>
              <a:t>‹#›</a:t>
            </a:fld>
            <a:endParaRPr lang="tr-TR" dirty="0"/>
          </a:p>
        </p:txBody>
      </p:sp>
      <p:grpSp>
        <p:nvGrpSpPr>
          <p:cNvPr id="19" name="Grup 18"/>
          <p:cNvGrpSpPr/>
          <p:nvPr userDrawn="1"/>
        </p:nvGrpSpPr>
        <p:grpSpPr>
          <a:xfrm>
            <a:off x="444735" y="0"/>
            <a:ext cx="1273323" cy="1431416"/>
            <a:chOff x="444735" y="0"/>
            <a:chExt cx="1273323" cy="1431416"/>
          </a:xfrm>
        </p:grpSpPr>
        <p:sp>
          <p:nvSpPr>
            <p:cNvPr id="14" name="Dikdörtgen 13"/>
            <p:cNvSpPr/>
            <p:nvPr userDrawn="1"/>
          </p:nvSpPr>
          <p:spPr>
            <a:xfrm>
              <a:off x="525921" y="0"/>
              <a:ext cx="1110953" cy="1110953"/>
            </a:xfrm>
            <a:prstGeom prst="rect">
              <a:avLst/>
            </a:prstGeom>
            <a:solidFill>
              <a:srgbClr val="04436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16" name="Oval 15"/>
            <p:cNvSpPr/>
            <p:nvPr userDrawn="1"/>
          </p:nvSpPr>
          <p:spPr>
            <a:xfrm>
              <a:off x="444735" y="158093"/>
              <a:ext cx="1273323" cy="127332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40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pic>
          <p:nvPicPr>
            <p:cNvPr id="17" name="Resim 16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5327" y="198685"/>
              <a:ext cx="1192138" cy="1192138"/>
            </a:xfrm>
            <a:prstGeom prst="rect">
              <a:avLst/>
            </a:prstGeom>
          </p:spPr>
        </p:pic>
      </p:grpSp>
      <p:cxnSp>
        <p:nvCxnSpPr>
          <p:cNvPr id="23" name="Düz Bağlayıcı 22"/>
          <p:cNvCxnSpPr/>
          <p:nvPr userDrawn="1"/>
        </p:nvCxnSpPr>
        <p:spPr>
          <a:xfrm>
            <a:off x="1803163" y="1390823"/>
            <a:ext cx="9860065" cy="0"/>
          </a:xfrm>
          <a:prstGeom prst="line">
            <a:avLst/>
          </a:prstGeom>
          <a:ln w="28575">
            <a:solidFill>
              <a:srgbClr val="0040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İçerik Yer Tutucusu 3"/>
          <p:cNvSpPr>
            <a:spLocks noGrp="1"/>
          </p:cNvSpPr>
          <p:nvPr>
            <p:ph sz="half" idx="2"/>
          </p:nvPr>
        </p:nvSpPr>
        <p:spPr>
          <a:xfrm>
            <a:off x="4144710" y="1597640"/>
            <a:ext cx="7518518" cy="4615153"/>
          </a:xfrm>
        </p:spPr>
        <p:txBody>
          <a:bodyPr/>
          <a:lstStyle>
            <a:lvl1pPr algn="just">
              <a:defRPr sz="2400">
                <a:solidFill>
                  <a:schemeClr val="tx2">
                    <a:lumMod val="75000"/>
                  </a:schemeClr>
                </a:solidFill>
              </a:defRPr>
            </a:lvl1pPr>
            <a:lvl2pPr>
              <a:defRPr>
                <a:solidFill>
                  <a:schemeClr val="tx2">
                    <a:lumMod val="75000"/>
                  </a:schemeClr>
                </a:solidFill>
              </a:defRPr>
            </a:lvl2pPr>
            <a:lvl3pPr>
              <a:defRPr>
                <a:solidFill>
                  <a:schemeClr val="tx2">
                    <a:lumMod val="75000"/>
                  </a:schemeClr>
                </a:solidFill>
              </a:defRPr>
            </a:lvl3pPr>
            <a:lvl4pPr>
              <a:defRPr>
                <a:solidFill>
                  <a:schemeClr val="tx2">
                    <a:lumMod val="75000"/>
                  </a:schemeClr>
                </a:solidFill>
              </a:defRPr>
            </a:lvl4pPr>
            <a:lvl5pPr>
              <a:defRPr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tr-TR" dirty="0"/>
          </a:p>
        </p:txBody>
      </p:sp>
      <p:sp>
        <p:nvSpPr>
          <p:cNvPr id="4" name="Resim Yer Tutucusu 3"/>
          <p:cNvSpPr>
            <a:spLocks noGrp="1"/>
          </p:cNvSpPr>
          <p:nvPr>
            <p:ph type="pic" sz="quarter" idx="13"/>
          </p:nvPr>
        </p:nvSpPr>
        <p:spPr>
          <a:xfrm>
            <a:off x="485775" y="1597025"/>
            <a:ext cx="3582023" cy="461645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tr-TR"/>
              <a:t>Resim eklemek için simgeyi tıklatın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222766633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im (sağda)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ikdörtgen 6"/>
          <p:cNvSpPr/>
          <p:nvPr userDrawn="1"/>
        </p:nvSpPr>
        <p:spPr>
          <a:xfrm>
            <a:off x="0" y="6453287"/>
            <a:ext cx="12192000" cy="311921"/>
          </a:xfrm>
          <a:prstGeom prst="rect">
            <a:avLst/>
          </a:prstGeom>
          <a:solidFill>
            <a:srgbClr val="00407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799244" y="484067"/>
            <a:ext cx="9863984" cy="900351"/>
          </a:xfrm>
        </p:spPr>
        <p:txBody>
          <a:bodyPr>
            <a:normAutofit/>
          </a:bodyPr>
          <a:lstStyle>
            <a:lvl1pPr algn="ctr">
              <a:defRPr sz="3600" b="1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tr-TR"/>
              <a:t>Asıl başlık stili için tıklatın</a:t>
            </a:r>
            <a:endParaRPr lang="tr-TR" dirty="0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>
          <a:xfrm>
            <a:off x="525922" y="6510247"/>
            <a:ext cx="10395604" cy="19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tr-TR" dirty="0"/>
              <a:t>Adıyaman Üniversitesi Uzaktan Eğitim Uygulama ve Araştırma Merkezi</a:t>
            </a:r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>
          <a:xfrm>
            <a:off x="11049712" y="6510247"/>
            <a:ext cx="613516" cy="1903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D1B0A2A-BC36-407E-86B9-E24EEBA61DF3}" type="slidenum">
              <a:rPr lang="tr-TR" smtClean="0"/>
              <a:pPr/>
              <a:t>‹#›</a:t>
            </a:fld>
            <a:endParaRPr lang="tr-TR" dirty="0"/>
          </a:p>
        </p:txBody>
      </p:sp>
      <p:grpSp>
        <p:nvGrpSpPr>
          <p:cNvPr id="19" name="Grup 18"/>
          <p:cNvGrpSpPr/>
          <p:nvPr userDrawn="1"/>
        </p:nvGrpSpPr>
        <p:grpSpPr>
          <a:xfrm>
            <a:off x="444735" y="0"/>
            <a:ext cx="1273323" cy="1431416"/>
            <a:chOff x="444735" y="0"/>
            <a:chExt cx="1273323" cy="1431416"/>
          </a:xfrm>
        </p:grpSpPr>
        <p:sp>
          <p:nvSpPr>
            <p:cNvPr id="14" name="Dikdörtgen 13"/>
            <p:cNvSpPr/>
            <p:nvPr userDrawn="1"/>
          </p:nvSpPr>
          <p:spPr>
            <a:xfrm>
              <a:off x="525921" y="0"/>
              <a:ext cx="1110953" cy="1110953"/>
            </a:xfrm>
            <a:prstGeom prst="rect">
              <a:avLst/>
            </a:prstGeom>
            <a:solidFill>
              <a:srgbClr val="04436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16" name="Oval 15"/>
            <p:cNvSpPr/>
            <p:nvPr userDrawn="1"/>
          </p:nvSpPr>
          <p:spPr>
            <a:xfrm>
              <a:off x="444735" y="158093"/>
              <a:ext cx="1273323" cy="127332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40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pic>
          <p:nvPicPr>
            <p:cNvPr id="17" name="Resim 16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5327" y="198685"/>
              <a:ext cx="1192138" cy="1192138"/>
            </a:xfrm>
            <a:prstGeom prst="rect">
              <a:avLst/>
            </a:prstGeom>
          </p:spPr>
        </p:pic>
      </p:grpSp>
      <p:cxnSp>
        <p:nvCxnSpPr>
          <p:cNvPr id="23" name="Düz Bağlayıcı 22"/>
          <p:cNvCxnSpPr/>
          <p:nvPr userDrawn="1"/>
        </p:nvCxnSpPr>
        <p:spPr>
          <a:xfrm>
            <a:off x="1803163" y="1390823"/>
            <a:ext cx="9860065" cy="0"/>
          </a:xfrm>
          <a:prstGeom prst="line">
            <a:avLst/>
          </a:prstGeom>
          <a:ln w="28575">
            <a:solidFill>
              <a:srgbClr val="0040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İçerik Yer Tutucusu 3"/>
          <p:cNvSpPr>
            <a:spLocks noGrp="1"/>
          </p:cNvSpPr>
          <p:nvPr>
            <p:ph sz="half" idx="2"/>
          </p:nvPr>
        </p:nvSpPr>
        <p:spPr>
          <a:xfrm>
            <a:off x="560104" y="1597640"/>
            <a:ext cx="7378939" cy="4615153"/>
          </a:xfrm>
        </p:spPr>
        <p:txBody>
          <a:bodyPr/>
          <a:lstStyle>
            <a:lvl1pPr algn="just">
              <a:defRPr sz="2400">
                <a:solidFill>
                  <a:schemeClr val="tx2">
                    <a:lumMod val="75000"/>
                  </a:schemeClr>
                </a:solidFill>
              </a:defRPr>
            </a:lvl1pPr>
            <a:lvl2pPr>
              <a:defRPr>
                <a:solidFill>
                  <a:schemeClr val="tx2">
                    <a:lumMod val="75000"/>
                  </a:schemeClr>
                </a:solidFill>
              </a:defRPr>
            </a:lvl2pPr>
            <a:lvl3pPr>
              <a:defRPr>
                <a:solidFill>
                  <a:schemeClr val="tx2">
                    <a:lumMod val="75000"/>
                  </a:schemeClr>
                </a:solidFill>
              </a:defRPr>
            </a:lvl3pPr>
            <a:lvl4pPr>
              <a:defRPr>
                <a:solidFill>
                  <a:schemeClr val="tx2">
                    <a:lumMod val="75000"/>
                  </a:schemeClr>
                </a:solidFill>
              </a:defRPr>
            </a:lvl4pPr>
            <a:lvl5pPr>
              <a:defRPr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tr-TR" dirty="0"/>
          </a:p>
        </p:txBody>
      </p:sp>
      <p:sp>
        <p:nvSpPr>
          <p:cNvPr id="15" name="Resim Yer Tutucusu 3"/>
          <p:cNvSpPr>
            <a:spLocks noGrp="1"/>
          </p:cNvSpPr>
          <p:nvPr>
            <p:ph type="pic" sz="quarter" idx="13"/>
          </p:nvPr>
        </p:nvSpPr>
        <p:spPr>
          <a:xfrm>
            <a:off x="8081205" y="1597025"/>
            <a:ext cx="3582023" cy="461645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tr-TR"/>
              <a:t>Resim eklemek için simgeyi tıklatın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769081516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im (ortada)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ikdörtgen 6"/>
          <p:cNvSpPr/>
          <p:nvPr userDrawn="1"/>
        </p:nvSpPr>
        <p:spPr>
          <a:xfrm>
            <a:off x="0" y="6453287"/>
            <a:ext cx="12192000" cy="311921"/>
          </a:xfrm>
          <a:prstGeom prst="rect">
            <a:avLst/>
          </a:prstGeom>
          <a:solidFill>
            <a:srgbClr val="00407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799244" y="484067"/>
            <a:ext cx="9863984" cy="900351"/>
          </a:xfrm>
        </p:spPr>
        <p:txBody>
          <a:bodyPr>
            <a:normAutofit/>
          </a:bodyPr>
          <a:lstStyle>
            <a:lvl1pPr algn="ctr">
              <a:defRPr sz="3600" b="1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tr-TR"/>
              <a:t>Asıl başlık stili için tıklatın</a:t>
            </a:r>
            <a:endParaRPr lang="tr-TR" dirty="0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>
          <a:xfrm>
            <a:off x="525922" y="6510247"/>
            <a:ext cx="10395604" cy="19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tr-TR" dirty="0"/>
              <a:t>Adıyaman Üniversitesi Uzaktan Eğitim Uygulama ve Araştırma Merkezi</a:t>
            </a:r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>
          <a:xfrm>
            <a:off x="11049712" y="6510247"/>
            <a:ext cx="613516" cy="1903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D1B0A2A-BC36-407E-86B9-E24EEBA61DF3}" type="slidenum">
              <a:rPr lang="tr-TR" smtClean="0"/>
              <a:pPr/>
              <a:t>‹#›</a:t>
            </a:fld>
            <a:endParaRPr lang="tr-TR" dirty="0"/>
          </a:p>
        </p:txBody>
      </p:sp>
      <p:grpSp>
        <p:nvGrpSpPr>
          <p:cNvPr id="19" name="Grup 18"/>
          <p:cNvGrpSpPr/>
          <p:nvPr userDrawn="1"/>
        </p:nvGrpSpPr>
        <p:grpSpPr>
          <a:xfrm>
            <a:off x="444735" y="0"/>
            <a:ext cx="1273323" cy="1431416"/>
            <a:chOff x="444735" y="0"/>
            <a:chExt cx="1273323" cy="1431416"/>
          </a:xfrm>
        </p:grpSpPr>
        <p:sp>
          <p:nvSpPr>
            <p:cNvPr id="14" name="Dikdörtgen 13"/>
            <p:cNvSpPr/>
            <p:nvPr userDrawn="1"/>
          </p:nvSpPr>
          <p:spPr>
            <a:xfrm>
              <a:off x="525921" y="0"/>
              <a:ext cx="1110953" cy="1110953"/>
            </a:xfrm>
            <a:prstGeom prst="rect">
              <a:avLst/>
            </a:prstGeom>
            <a:solidFill>
              <a:srgbClr val="04436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16" name="Oval 15"/>
            <p:cNvSpPr/>
            <p:nvPr userDrawn="1"/>
          </p:nvSpPr>
          <p:spPr>
            <a:xfrm>
              <a:off x="444735" y="158093"/>
              <a:ext cx="1273323" cy="127332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40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pic>
          <p:nvPicPr>
            <p:cNvPr id="17" name="Resim 16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5327" y="198685"/>
              <a:ext cx="1192138" cy="1192138"/>
            </a:xfrm>
            <a:prstGeom prst="rect">
              <a:avLst/>
            </a:prstGeom>
          </p:spPr>
        </p:pic>
      </p:grpSp>
      <p:cxnSp>
        <p:nvCxnSpPr>
          <p:cNvPr id="23" name="Düz Bağlayıcı 22"/>
          <p:cNvCxnSpPr/>
          <p:nvPr userDrawn="1"/>
        </p:nvCxnSpPr>
        <p:spPr>
          <a:xfrm>
            <a:off x="1803163" y="1390823"/>
            <a:ext cx="9860065" cy="0"/>
          </a:xfrm>
          <a:prstGeom prst="line">
            <a:avLst/>
          </a:prstGeom>
          <a:ln w="28575">
            <a:solidFill>
              <a:srgbClr val="0040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İçerik Yer Tutucusu 3"/>
          <p:cNvSpPr>
            <a:spLocks noGrp="1"/>
          </p:cNvSpPr>
          <p:nvPr>
            <p:ph sz="half" idx="2"/>
          </p:nvPr>
        </p:nvSpPr>
        <p:spPr>
          <a:xfrm>
            <a:off x="560104" y="3768695"/>
            <a:ext cx="11103124" cy="2444098"/>
          </a:xfrm>
        </p:spPr>
        <p:txBody>
          <a:bodyPr/>
          <a:lstStyle>
            <a:lvl1pPr algn="just">
              <a:defRPr sz="2400">
                <a:solidFill>
                  <a:schemeClr val="tx2">
                    <a:lumMod val="75000"/>
                  </a:schemeClr>
                </a:solidFill>
              </a:defRPr>
            </a:lvl1pPr>
            <a:lvl2pPr>
              <a:defRPr>
                <a:solidFill>
                  <a:schemeClr val="tx2">
                    <a:lumMod val="75000"/>
                  </a:schemeClr>
                </a:solidFill>
              </a:defRPr>
            </a:lvl2pPr>
            <a:lvl3pPr>
              <a:defRPr>
                <a:solidFill>
                  <a:schemeClr val="tx2">
                    <a:lumMod val="75000"/>
                  </a:schemeClr>
                </a:solidFill>
              </a:defRPr>
            </a:lvl3pPr>
            <a:lvl4pPr>
              <a:defRPr>
                <a:solidFill>
                  <a:schemeClr val="tx2">
                    <a:lumMod val="75000"/>
                  </a:schemeClr>
                </a:solidFill>
              </a:defRPr>
            </a:lvl4pPr>
            <a:lvl5pPr>
              <a:defRPr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tr-TR" dirty="0"/>
          </a:p>
        </p:txBody>
      </p:sp>
      <p:sp>
        <p:nvSpPr>
          <p:cNvPr id="15" name="Resim Yer Tutucusu 3"/>
          <p:cNvSpPr>
            <a:spLocks noGrp="1"/>
          </p:cNvSpPr>
          <p:nvPr>
            <p:ph type="pic" sz="quarter" idx="13"/>
          </p:nvPr>
        </p:nvSpPr>
        <p:spPr>
          <a:xfrm>
            <a:off x="1407456" y="1566832"/>
            <a:ext cx="4680000" cy="2107038"/>
          </a:xfrm>
        </p:spPr>
        <p:txBody>
          <a:bodyPr/>
          <a:lstStyle>
            <a:lvl1pPr>
              <a:defRPr sz="2400"/>
            </a:lvl1pPr>
          </a:lstStyle>
          <a:p>
            <a:r>
              <a:rPr lang="tr-TR"/>
              <a:t>Resim eklemek için simgeyi tıklatın</a:t>
            </a:r>
            <a:endParaRPr lang="tr-TR" dirty="0"/>
          </a:p>
        </p:txBody>
      </p:sp>
      <p:sp>
        <p:nvSpPr>
          <p:cNvPr id="18" name="Resim Yer Tutucusu 3"/>
          <p:cNvSpPr>
            <a:spLocks noGrp="1"/>
          </p:cNvSpPr>
          <p:nvPr>
            <p:ph type="pic" sz="quarter" idx="14"/>
          </p:nvPr>
        </p:nvSpPr>
        <p:spPr>
          <a:xfrm>
            <a:off x="6352620" y="1566832"/>
            <a:ext cx="4680000" cy="2107038"/>
          </a:xfrm>
        </p:spPr>
        <p:txBody>
          <a:bodyPr/>
          <a:lstStyle>
            <a:lvl1pPr>
              <a:defRPr sz="2400"/>
            </a:lvl1pPr>
          </a:lstStyle>
          <a:p>
            <a:r>
              <a:rPr lang="tr-TR"/>
              <a:t>Resim eklemek için simgeyi tıklatın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43208944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rs Son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etin Yer Tutucusu 18"/>
          <p:cNvSpPr>
            <a:spLocks noGrp="1"/>
          </p:cNvSpPr>
          <p:nvPr>
            <p:ph type="body" sz="quarter" idx="13" hasCustomPrompt="1"/>
          </p:nvPr>
        </p:nvSpPr>
        <p:spPr>
          <a:xfrm>
            <a:off x="1716584" y="5328628"/>
            <a:ext cx="8758830" cy="443461"/>
          </a:xfrm>
        </p:spPr>
        <p:txBody>
          <a:bodyPr>
            <a:normAutofit/>
          </a:bodyPr>
          <a:lstStyle>
            <a:lvl1pPr marL="0" indent="0" algn="ctr">
              <a:buNone/>
              <a:defRPr sz="2400" baseline="0"/>
            </a:lvl1pPr>
          </a:lstStyle>
          <a:p>
            <a:pPr lvl="0"/>
            <a:r>
              <a:rPr lang="tr-TR" dirty="0"/>
              <a:t>Öğretim Elemanı</a:t>
            </a:r>
          </a:p>
        </p:txBody>
      </p:sp>
      <p:sp>
        <p:nvSpPr>
          <p:cNvPr id="14" name="Dikdörtgen 13"/>
          <p:cNvSpPr/>
          <p:nvPr userDrawn="1"/>
        </p:nvSpPr>
        <p:spPr>
          <a:xfrm>
            <a:off x="0" y="6353543"/>
            <a:ext cx="12192000" cy="311921"/>
          </a:xfrm>
          <a:prstGeom prst="rect">
            <a:avLst/>
          </a:prstGeom>
          <a:solidFill>
            <a:srgbClr val="00407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>
          <a:xfrm>
            <a:off x="3355293" y="6387116"/>
            <a:ext cx="5481415" cy="2447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tr-TR" dirty="0"/>
              <a:t>Adıyaman Üniversitesi Uzaktan Eğitim Uygulama ve Araştırma Merkezi</a:t>
            </a:r>
          </a:p>
        </p:txBody>
      </p:sp>
      <p:sp>
        <p:nvSpPr>
          <p:cNvPr id="11" name="Dikdörtgen 10"/>
          <p:cNvSpPr/>
          <p:nvPr userDrawn="1"/>
        </p:nvSpPr>
        <p:spPr>
          <a:xfrm rot="16200000">
            <a:off x="5408345" y="-4380110"/>
            <a:ext cx="1375308" cy="12192001"/>
          </a:xfrm>
          <a:prstGeom prst="rect">
            <a:avLst/>
          </a:prstGeom>
          <a:solidFill>
            <a:srgbClr val="04436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grpSp>
        <p:nvGrpSpPr>
          <p:cNvPr id="17" name="Grup 16"/>
          <p:cNvGrpSpPr/>
          <p:nvPr userDrawn="1"/>
        </p:nvGrpSpPr>
        <p:grpSpPr>
          <a:xfrm>
            <a:off x="4876518" y="496408"/>
            <a:ext cx="2438964" cy="2438964"/>
            <a:chOff x="6974572" y="1076137"/>
            <a:chExt cx="2438964" cy="2438964"/>
          </a:xfrm>
        </p:grpSpPr>
        <p:sp>
          <p:nvSpPr>
            <p:cNvPr id="12" name="Oval 11"/>
            <p:cNvSpPr/>
            <p:nvPr userDrawn="1"/>
          </p:nvSpPr>
          <p:spPr>
            <a:xfrm rot="16200000">
              <a:off x="6974572" y="1076137"/>
              <a:ext cx="2438964" cy="2438964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40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pic>
          <p:nvPicPr>
            <p:cNvPr id="13" name="Resim 12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52324" y="1153890"/>
              <a:ext cx="2283459" cy="2283460"/>
            </a:xfrm>
            <a:prstGeom prst="rect">
              <a:avLst/>
            </a:prstGeom>
          </p:spPr>
        </p:pic>
      </p:grpSp>
      <p:sp>
        <p:nvSpPr>
          <p:cNvPr id="20" name="Dikdörtgen 19"/>
          <p:cNvSpPr/>
          <p:nvPr userDrawn="1"/>
        </p:nvSpPr>
        <p:spPr>
          <a:xfrm>
            <a:off x="0" y="-57747"/>
            <a:ext cx="12192000" cy="57748"/>
          </a:xfrm>
          <a:prstGeom prst="rect">
            <a:avLst/>
          </a:prstGeom>
          <a:solidFill>
            <a:srgbClr val="00407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" name="Metin kutusu 1"/>
          <p:cNvSpPr txBox="1"/>
          <p:nvPr userDrawn="1"/>
        </p:nvSpPr>
        <p:spPr>
          <a:xfrm>
            <a:off x="1523999" y="3208242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400" b="1" dirty="0">
                <a:solidFill>
                  <a:schemeClr val="tx2">
                    <a:lumMod val="75000"/>
                  </a:schemeClr>
                </a:solidFill>
              </a:rPr>
              <a:t>DERS SONU</a:t>
            </a:r>
          </a:p>
        </p:txBody>
      </p:sp>
      <p:sp>
        <p:nvSpPr>
          <p:cNvPr id="19" name="Metin Yer Tutucusu 18"/>
          <p:cNvSpPr>
            <a:spLocks noGrp="1"/>
          </p:cNvSpPr>
          <p:nvPr>
            <p:ph type="body" sz="quarter" idx="12" hasCustomPrompt="1"/>
          </p:nvPr>
        </p:nvSpPr>
        <p:spPr>
          <a:xfrm>
            <a:off x="1716584" y="3902448"/>
            <a:ext cx="8758830" cy="443461"/>
          </a:xfrm>
        </p:spPr>
        <p:txBody>
          <a:bodyPr>
            <a:normAutofit/>
          </a:bodyPr>
          <a:lstStyle>
            <a:lvl1pPr marL="0" indent="0" algn="ctr">
              <a:buNone/>
              <a:defRPr sz="2400" baseline="0"/>
            </a:lvl1pPr>
          </a:lstStyle>
          <a:p>
            <a:pPr lvl="0"/>
            <a:r>
              <a:rPr lang="tr-TR" dirty="0"/>
              <a:t>SONRAKİ HAFTA KONUSU</a:t>
            </a:r>
          </a:p>
        </p:txBody>
      </p:sp>
    </p:spTree>
    <p:extLst>
      <p:ext uri="{BB962C8B-B14F-4D97-AF65-F5344CB8AC3E}">
        <p14:creationId xmlns:p14="http://schemas.microsoft.com/office/powerpoint/2010/main" val="2381664063"/>
      </p:ext>
    </p:extLst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ynakç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ikdörtgen 6"/>
          <p:cNvSpPr/>
          <p:nvPr userDrawn="1"/>
        </p:nvSpPr>
        <p:spPr>
          <a:xfrm>
            <a:off x="0" y="6453287"/>
            <a:ext cx="12192000" cy="311921"/>
          </a:xfrm>
          <a:prstGeom prst="rect">
            <a:avLst/>
          </a:prstGeom>
          <a:solidFill>
            <a:srgbClr val="00407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799243" y="1811707"/>
            <a:ext cx="9863985" cy="4503217"/>
          </a:xfrm>
        </p:spPr>
        <p:txBody>
          <a:bodyPr>
            <a:normAutofit/>
          </a:bodyPr>
          <a:lstStyle>
            <a:lvl1pPr marL="514350" indent="-514350" algn="l">
              <a:buFont typeface="+mj-lt"/>
              <a:buAutoNum type="arabicPeriod"/>
              <a:defRPr sz="2000">
                <a:solidFill>
                  <a:schemeClr val="tx2">
                    <a:lumMod val="75000"/>
                  </a:schemeClr>
                </a:solidFill>
              </a:defRPr>
            </a:lvl1pPr>
            <a:lvl2pPr algn="l">
              <a:defRPr>
                <a:solidFill>
                  <a:schemeClr val="tx2">
                    <a:lumMod val="75000"/>
                  </a:schemeClr>
                </a:solidFill>
              </a:defRPr>
            </a:lvl2pPr>
            <a:lvl3pPr algn="l">
              <a:defRPr>
                <a:solidFill>
                  <a:schemeClr val="tx2">
                    <a:lumMod val="75000"/>
                  </a:schemeClr>
                </a:solidFill>
              </a:defRPr>
            </a:lvl3pPr>
            <a:lvl4pPr algn="l">
              <a:defRPr>
                <a:solidFill>
                  <a:schemeClr val="tx2">
                    <a:lumMod val="75000"/>
                  </a:schemeClr>
                </a:solidFill>
              </a:defRPr>
            </a:lvl4pPr>
            <a:lvl5pPr algn="l">
              <a:defRPr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>
          <a:xfrm>
            <a:off x="898198" y="6510247"/>
            <a:ext cx="10395604" cy="19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tr-TR" dirty="0"/>
              <a:t>Adıyaman Üniversitesi Uzaktan Eğitim Uygulama ve Araştırma Merkezi</a:t>
            </a:r>
          </a:p>
        </p:txBody>
      </p:sp>
      <p:grpSp>
        <p:nvGrpSpPr>
          <p:cNvPr id="19" name="Grup 18"/>
          <p:cNvGrpSpPr/>
          <p:nvPr userDrawn="1"/>
        </p:nvGrpSpPr>
        <p:grpSpPr>
          <a:xfrm>
            <a:off x="444735" y="0"/>
            <a:ext cx="1273323" cy="1431416"/>
            <a:chOff x="444735" y="0"/>
            <a:chExt cx="1273323" cy="1431416"/>
          </a:xfrm>
        </p:grpSpPr>
        <p:sp>
          <p:nvSpPr>
            <p:cNvPr id="14" name="Dikdörtgen 13"/>
            <p:cNvSpPr/>
            <p:nvPr userDrawn="1"/>
          </p:nvSpPr>
          <p:spPr>
            <a:xfrm>
              <a:off x="525921" y="0"/>
              <a:ext cx="1110953" cy="1110953"/>
            </a:xfrm>
            <a:prstGeom prst="rect">
              <a:avLst/>
            </a:prstGeom>
            <a:solidFill>
              <a:srgbClr val="04436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16" name="Oval 15"/>
            <p:cNvSpPr/>
            <p:nvPr userDrawn="1"/>
          </p:nvSpPr>
          <p:spPr>
            <a:xfrm>
              <a:off x="444735" y="158093"/>
              <a:ext cx="1273323" cy="127332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40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pic>
          <p:nvPicPr>
            <p:cNvPr id="17" name="Resim 16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5327" y="198685"/>
              <a:ext cx="1192138" cy="1192138"/>
            </a:xfrm>
            <a:prstGeom prst="rect">
              <a:avLst/>
            </a:prstGeom>
          </p:spPr>
        </p:pic>
      </p:grpSp>
      <p:cxnSp>
        <p:nvCxnSpPr>
          <p:cNvPr id="23" name="Düz Bağlayıcı 22"/>
          <p:cNvCxnSpPr/>
          <p:nvPr userDrawn="1"/>
        </p:nvCxnSpPr>
        <p:spPr>
          <a:xfrm>
            <a:off x="1803163" y="1390823"/>
            <a:ext cx="9860065" cy="0"/>
          </a:xfrm>
          <a:prstGeom prst="line">
            <a:avLst/>
          </a:prstGeom>
          <a:ln w="28575">
            <a:solidFill>
              <a:srgbClr val="0040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Metin kutusu 14"/>
          <p:cNvSpPr txBox="1"/>
          <p:nvPr userDrawn="1"/>
        </p:nvSpPr>
        <p:spPr>
          <a:xfrm>
            <a:off x="1799243" y="581117"/>
            <a:ext cx="98639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3600" b="1" dirty="0">
                <a:solidFill>
                  <a:schemeClr val="tx2">
                    <a:lumMod val="75000"/>
                  </a:schemeClr>
                </a:solidFill>
              </a:rPr>
              <a:t>Kaynakça</a:t>
            </a:r>
          </a:p>
        </p:txBody>
      </p:sp>
    </p:spTree>
    <p:extLst>
      <p:ext uri="{BB962C8B-B14F-4D97-AF65-F5344CB8AC3E}">
        <p14:creationId xmlns:p14="http://schemas.microsoft.com/office/powerpoint/2010/main" val="3254645772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dirty="0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dirty="0"/>
              <a:t>Asıl metin stillerini düzenlemek için tıklatın</a:t>
            </a:r>
          </a:p>
          <a:p>
            <a:pPr lvl="1"/>
            <a:r>
              <a:rPr lang="tr-TR" dirty="0"/>
              <a:t>İkinci düzey</a:t>
            </a:r>
          </a:p>
          <a:p>
            <a:pPr lvl="2"/>
            <a:r>
              <a:rPr lang="tr-TR" dirty="0"/>
              <a:t>Üçüncü düzey</a:t>
            </a:r>
          </a:p>
          <a:p>
            <a:pPr lvl="3"/>
            <a:r>
              <a:rPr lang="tr-TR" dirty="0"/>
              <a:t>Dördüncü düzey</a:t>
            </a:r>
          </a:p>
          <a:p>
            <a:pPr lvl="4"/>
            <a:r>
              <a:rPr lang="tr-TR" dirty="0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tr-TR"/>
              <a:t>Adıyaman Üniversitesi Uzaktan Eğitim Uygulama ve Araştırma Merkezi</a:t>
            </a:r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757198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61" r:id="rId4"/>
    <p:sldLayoutId id="2147483664" r:id="rId5"/>
    <p:sldLayoutId id="2147483665" r:id="rId6"/>
    <p:sldLayoutId id="2147483666" r:id="rId7"/>
    <p:sldLayoutId id="2147483663" r:id="rId8"/>
    <p:sldLayoutId id="2147483662" r:id="rId9"/>
  </p:sldLayoutIdLst>
  <p:hf sldNum="0" hd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tx2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ltbilgi Yer Tutucusu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Adıyaman Üniversitesi Uzaktan Eğitim Uygulama ve Araştırma Merkezi</a:t>
            </a: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tr-TR"/>
              <a:t>BİLGİSAYAR MÜHENDİSLİĞİNE GİRİŞ</a:t>
            </a:r>
            <a:endParaRPr lang="tr-TR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tr-TR"/>
              <a:t>Mikroişlemciler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tr-TR"/>
              <a:t>5. </a:t>
            </a:r>
            <a:r>
              <a:rPr lang="tr-TR" dirty="0"/>
              <a:t>Hafta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6" name="Metin Yer Tutucusu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/>
              <a:t>DR. ÖĞR. ÜYESİ. HÜSEYİN VURAL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31989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43507-FE25-3F30-A7CB-CFA5CD942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EC93A581-BE29-B564-BE66-96F4D90EC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Mikrodenetleyici</a:t>
            </a:r>
          </a:p>
        </p:txBody>
      </p:sp>
      <p:sp>
        <p:nvSpPr>
          <p:cNvPr id="4" name="Altbilgi Yer Tutucusu 3">
            <a:extLst>
              <a:ext uri="{FF2B5EF4-FFF2-40B4-BE49-F238E27FC236}">
                <a16:creationId xmlns:a16="http://schemas.microsoft.com/office/drawing/2014/main" id="{E0B7F20E-F413-3127-259F-5D60FA835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tr-TR"/>
              <a:t>Adıyaman Üniversitesi Uzaktan Eğitim Uygulama ve Araştırma Merkezi</a:t>
            </a:r>
            <a:endParaRPr lang="tr-TR" dirty="0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101850E3-BC63-E8EC-5D73-152B8597B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0A2A-BC36-407E-86B9-E24EEBA61DF3}" type="slidenum">
              <a:rPr lang="tr-TR" smtClean="0"/>
              <a:pPr/>
              <a:t>2</a:t>
            </a:fld>
            <a:endParaRPr lang="tr-TR" dirty="0"/>
          </a:p>
        </p:txBody>
      </p:sp>
      <p:sp>
        <p:nvSpPr>
          <p:cNvPr id="3" name="Dikdörtgen: Köşeleri Yuvarlatılmış 2">
            <a:extLst>
              <a:ext uri="{FF2B5EF4-FFF2-40B4-BE49-F238E27FC236}">
                <a16:creationId xmlns:a16="http://schemas.microsoft.com/office/drawing/2014/main" id="{D1D739EB-6079-04C7-AC74-38875C7B2E6D}"/>
              </a:ext>
            </a:extLst>
          </p:cNvPr>
          <p:cNvSpPr/>
          <p:nvPr/>
        </p:nvSpPr>
        <p:spPr>
          <a:xfrm>
            <a:off x="7979994" y="1880371"/>
            <a:ext cx="2108718" cy="154768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>
                <a:solidFill>
                  <a:schemeClr val="tx1"/>
                </a:solidFill>
              </a:rPr>
              <a:t>Hafıza</a:t>
            </a:r>
          </a:p>
          <a:p>
            <a:pPr algn="ctr"/>
            <a:r>
              <a:rPr lang="tr-TR"/>
              <a:t>RAM</a:t>
            </a:r>
          </a:p>
          <a:p>
            <a:pPr algn="ctr"/>
            <a:r>
              <a:rPr lang="tr-TR"/>
              <a:t>EPROM</a:t>
            </a:r>
          </a:p>
          <a:p>
            <a:pPr algn="ctr"/>
            <a:r>
              <a:rPr lang="tr-TR"/>
              <a:t>EEPROM</a:t>
            </a:r>
          </a:p>
        </p:txBody>
      </p:sp>
      <p:sp>
        <p:nvSpPr>
          <p:cNvPr id="9" name="Dikdörtgen: Köşeleri Yuvarlatılmış 8">
            <a:extLst>
              <a:ext uri="{FF2B5EF4-FFF2-40B4-BE49-F238E27FC236}">
                <a16:creationId xmlns:a16="http://schemas.microsoft.com/office/drawing/2014/main" id="{0A4D4F21-807F-2DE5-B34E-59F1B0F3B83F}"/>
              </a:ext>
            </a:extLst>
          </p:cNvPr>
          <p:cNvSpPr/>
          <p:nvPr/>
        </p:nvSpPr>
        <p:spPr>
          <a:xfrm>
            <a:off x="5569999" y="3056004"/>
            <a:ext cx="1424474" cy="19172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>
                <a:solidFill>
                  <a:schemeClr val="tx1"/>
                </a:solidFill>
              </a:rPr>
              <a:t>İşlemci</a:t>
            </a:r>
          </a:p>
          <a:p>
            <a:pPr algn="ctr"/>
            <a:r>
              <a:rPr lang="tr-TR"/>
              <a:t>4-bit</a:t>
            </a:r>
          </a:p>
          <a:p>
            <a:pPr algn="ctr"/>
            <a:r>
              <a:rPr lang="tr-TR"/>
              <a:t>8-bit</a:t>
            </a:r>
          </a:p>
          <a:p>
            <a:pPr algn="ctr"/>
            <a:r>
              <a:rPr lang="tr-TR"/>
              <a:t>16-bit</a:t>
            </a:r>
          </a:p>
          <a:p>
            <a:pPr algn="ctr"/>
            <a:r>
              <a:rPr lang="tr-TR"/>
              <a:t>32-bit</a:t>
            </a:r>
          </a:p>
          <a:p>
            <a:pPr algn="ctr"/>
            <a:r>
              <a:rPr lang="tr-TR" u="sng"/>
              <a:t>64-bit</a:t>
            </a:r>
          </a:p>
        </p:txBody>
      </p:sp>
      <p:sp>
        <p:nvSpPr>
          <p:cNvPr id="12" name="Dikdörtgen: Köşeleri Yuvarlatılmış 11">
            <a:extLst>
              <a:ext uri="{FF2B5EF4-FFF2-40B4-BE49-F238E27FC236}">
                <a16:creationId xmlns:a16="http://schemas.microsoft.com/office/drawing/2014/main" id="{7482E15F-B107-1959-3D3A-99A576488904}"/>
              </a:ext>
            </a:extLst>
          </p:cNvPr>
          <p:cNvSpPr/>
          <p:nvPr/>
        </p:nvSpPr>
        <p:spPr>
          <a:xfrm>
            <a:off x="2730759" y="5173717"/>
            <a:ext cx="2108718" cy="6158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>
                <a:solidFill>
                  <a:schemeClr val="tx1"/>
                </a:solidFill>
              </a:rPr>
              <a:t>Zamanlayıcı</a:t>
            </a:r>
          </a:p>
        </p:txBody>
      </p:sp>
      <p:sp>
        <p:nvSpPr>
          <p:cNvPr id="13" name="Dikdörtgen: Köşeleri Yuvarlatılmış 12">
            <a:extLst>
              <a:ext uri="{FF2B5EF4-FFF2-40B4-BE49-F238E27FC236}">
                <a16:creationId xmlns:a16="http://schemas.microsoft.com/office/drawing/2014/main" id="{C316914C-CDF1-9276-C2DC-0D6A298034D8}"/>
              </a:ext>
            </a:extLst>
          </p:cNvPr>
          <p:cNvSpPr/>
          <p:nvPr/>
        </p:nvSpPr>
        <p:spPr>
          <a:xfrm>
            <a:off x="8546841" y="5173717"/>
            <a:ext cx="2108718" cy="6158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>
                <a:solidFill>
                  <a:schemeClr val="tx1"/>
                </a:solidFill>
              </a:rPr>
              <a:t>Osilator</a:t>
            </a:r>
          </a:p>
        </p:txBody>
      </p:sp>
      <p:sp>
        <p:nvSpPr>
          <p:cNvPr id="14" name="Dikdörtgen: Köşeleri Yuvarlatılmış 13">
            <a:extLst>
              <a:ext uri="{FF2B5EF4-FFF2-40B4-BE49-F238E27FC236}">
                <a16:creationId xmlns:a16="http://schemas.microsoft.com/office/drawing/2014/main" id="{08F56C2B-CC13-66B7-C7A6-3BA538C78021}"/>
              </a:ext>
            </a:extLst>
          </p:cNvPr>
          <p:cNvSpPr/>
          <p:nvPr/>
        </p:nvSpPr>
        <p:spPr>
          <a:xfrm>
            <a:off x="2985796" y="1866628"/>
            <a:ext cx="1511559" cy="15614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>
                <a:solidFill>
                  <a:schemeClr val="tx1"/>
                </a:solidFill>
              </a:rPr>
              <a:t>Giriş/Çıkış</a:t>
            </a:r>
          </a:p>
          <a:p>
            <a:pPr algn="ctr"/>
            <a:r>
              <a:rPr lang="tr-TR"/>
              <a:t>ADC</a:t>
            </a:r>
          </a:p>
          <a:p>
            <a:pPr algn="ctr"/>
            <a:r>
              <a:rPr lang="tr-TR"/>
              <a:t>DAC</a:t>
            </a:r>
          </a:p>
          <a:p>
            <a:pPr algn="ctr"/>
            <a:r>
              <a:rPr lang="tr-TR"/>
              <a:t>PWM</a:t>
            </a:r>
          </a:p>
        </p:txBody>
      </p: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5D3336D9-8A8B-A1EE-3DE8-F3F3C001D994}"/>
              </a:ext>
            </a:extLst>
          </p:cNvPr>
          <p:cNvSpPr txBox="1"/>
          <p:nvPr/>
        </p:nvSpPr>
        <p:spPr>
          <a:xfrm>
            <a:off x="5713009" y="1880371"/>
            <a:ext cx="1138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/>
              <a:t>Veri yolu</a:t>
            </a:r>
          </a:p>
        </p:txBody>
      </p:sp>
      <p:sp>
        <p:nvSpPr>
          <p:cNvPr id="19" name="Metin kutusu 18">
            <a:extLst>
              <a:ext uri="{FF2B5EF4-FFF2-40B4-BE49-F238E27FC236}">
                <a16:creationId xmlns:a16="http://schemas.microsoft.com/office/drawing/2014/main" id="{7BEE391D-CCB7-556D-59A5-624D52B70C5B}"/>
              </a:ext>
            </a:extLst>
          </p:cNvPr>
          <p:cNvSpPr txBox="1"/>
          <p:nvPr/>
        </p:nvSpPr>
        <p:spPr>
          <a:xfrm>
            <a:off x="4489297" y="2889690"/>
            <a:ext cx="10887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/>
              <a:t>Adres yolu</a:t>
            </a:r>
          </a:p>
        </p:txBody>
      </p:sp>
      <p:sp>
        <p:nvSpPr>
          <p:cNvPr id="6" name="Ok: Sol Sağ 5">
            <a:extLst>
              <a:ext uri="{FF2B5EF4-FFF2-40B4-BE49-F238E27FC236}">
                <a16:creationId xmlns:a16="http://schemas.microsoft.com/office/drawing/2014/main" id="{7B340619-7E9B-C3CB-136E-8C58558EB51B}"/>
              </a:ext>
            </a:extLst>
          </p:cNvPr>
          <p:cNvSpPr/>
          <p:nvPr/>
        </p:nvSpPr>
        <p:spPr>
          <a:xfrm>
            <a:off x="4473182" y="3172478"/>
            <a:ext cx="1096818" cy="307777"/>
          </a:xfrm>
          <a:prstGeom prst="left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4" name="Ok: Sol Sağ 23">
            <a:extLst>
              <a:ext uri="{FF2B5EF4-FFF2-40B4-BE49-F238E27FC236}">
                <a16:creationId xmlns:a16="http://schemas.microsoft.com/office/drawing/2014/main" id="{7FEC3234-27A2-6F87-547D-68A8D7251DFA}"/>
              </a:ext>
            </a:extLst>
          </p:cNvPr>
          <p:cNvSpPr/>
          <p:nvPr/>
        </p:nvSpPr>
        <p:spPr>
          <a:xfrm>
            <a:off x="7008779" y="3172479"/>
            <a:ext cx="996400" cy="307776"/>
          </a:xfrm>
          <a:prstGeom prst="left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6" name="Metin kutusu 25">
            <a:extLst>
              <a:ext uri="{FF2B5EF4-FFF2-40B4-BE49-F238E27FC236}">
                <a16:creationId xmlns:a16="http://schemas.microsoft.com/office/drawing/2014/main" id="{6D3C7EB1-0ADA-D480-9F0D-FD8354A3F067}"/>
              </a:ext>
            </a:extLst>
          </p:cNvPr>
          <p:cNvSpPr txBox="1"/>
          <p:nvPr/>
        </p:nvSpPr>
        <p:spPr>
          <a:xfrm>
            <a:off x="6932535" y="2881522"/>
            <a:ext cx="10887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/>
              <a:t>Adres yolu</a:t>
            </a:r>
          </a:p>
        </p:txBody>
      </p:sp>
      <p:cxnSp>
        <p:nvCxnSpPr>
          <p:cNvPr id="30" name="Bağlayıcı: Dirsek 29">
            <a:extLst>
              <a:ext uri="{FF2B5EF4-FFF2-40B4-BE49-F238E27FC236}">
                <a16:creationId xmlns:a16="http://schemas.microsoft.com/office/drawing/2014/main" id="{C572FAFC-7FA5-BA1B-2F95-964AD1246F87}"/>
              </a:ext>
            </a:extLst>
          </p:cNvPr>
          <p:cNvCxnSpPr>
            <a:endCxn id="12" idx="0"/>
          </p:cNvCxnSpPr>
          <p:nvPr/>
        </p:nvCxnSpPr>
        <p:spPr>
          <a:xfrm rot="10800000" flipV="1">
            <a:off x="3785119" y="4301411"/>
            <a:ext cx="1792939" cy="872305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Bağlayıcı: Dirsek 31">
            <a:extLst>
              <a:ext uri="{FF2B5EF4-FFF2-40B4-BE49-F238E27FC236}">
                <a16:creationId xmlns:a16="http://schemas.microsoft.com/office/drawing/2014/main" id="{A5434DAD-DB21-8405-C501-975DC3880565}"/>
              </a:ext>
            </a:extLst>
          </p:cNvPr>
          <p:cNvCxnSpPr>
            <a:endCxn id="13" idx="0"/>
          </p:cNvCxnSpPr>
          <p:nvPr/>
        </p:nvCxnSpPr>
        <p:spPr>
          <a:xfrm>
            <a:off x="7008779" y="4301411"/>
            <a:ext cx="2592421" cy="872306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Ok: Sol Sağ Yukarı 32">
            <a:extLst>
              <a:ext uri="{FF2B5EF4-FFF2-40B4-BE49-F238E27FC236}">
                <a16:creationId xmlns:a16="http://schemas.microsoft.com/office/drawing/2014/main" id="{41152AA4-0E14-F0BC-CB0C-B66A0E37DC82}"/>
              </a:ext>
            </a:extLst>
          </p:cNvPr>
          <p:cNvSpPr/>
          <p:nvPr/>
        </p:nvSpPr>
        <p:spPr>
          <a:xfrm flipV="1">
            <a:off x="4489297" y="2160415"/>
            <a:ext cx="3531997" cy="885672"/>
          </a:xfrm>
          <a:prstGeom prst="leftRightUpArrow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86145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2096A-6B83-BBEC-9A33-AA2F8C3F0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D729A73F-CC82-DC87-7739-3E3678AD7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Mikrodenetleyici Seçimi</a:t>
            </a:r>
          </a:p>
        </p:txBody>
      </p:sp>
      <p:sp>
        <p:nvSpPr>
          <p:cNvPr id="9" name="İçerik Yer Tutucusu 8">
            <a:extLst>
              <a:ext uri="{FF2B5EF4-FFF2-40B4-BE49-F238E27FC236}">
                <a16:creationId xmlns:a16="http://schemas.microsoft.com/office/drawing/2014/main" id="{C5BB6F56-1085-0F9B-0A70-890BAD80FB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b="1"/>
              <a:t>1.</a:t>
            </a:r>
            <a:r>
              <a:rPr lang="tr-TR"/>
              <a:t> </a:t>
            </a:r>
            <a:r>
              <a:rPr lang="tr-TR" b="1"/>
              <a:t>Ekonomik Fizibilite ve Maliyet Analizi</a:t>
            </a:r>
          </a:p>
          <a:p>
            <a:endParaRPr lang="tr-TR"/>
          </a:p>
          <a:p>
            <a:r>
              <a:rPr lang="tr-TR"/>
              <a:t>Mikrodenetleyici seçim sürecinde en temel ve belirleyici parametre </a:t>
            </a:r>
            <a:r>
              <a:rPr lang="tr-TR" b="1"/>
              <a:t>birim fiyat</a:t>
            </a:r>
            <a:r>
              <a:rPr lang="tr-TR"/>
              <a:t>tır.</a:t>
            </a:r>
          </a:p>
          <a:p>
            <a:endParaRPr lang="tr-TR"/>
          </a:p>
          <a:p>
            <a:pPr algn="l"/>
            <a:r>
              <a:rPr lang="tr-TR"/>
              <a:t>Diğer tüm teknik özellikler, projenin toplam maliyet bütçesi ve hedeflenen satış fiyatı çerçevesinde, maliyet kriterinin altında değerlendirilir.</a:t>
            </a:r>
          </a:p>
        </p:txBody>
      </p:sp>
      <p:sp>
        <p:nvSpPr>
          <p:cNvPr id="4" name="Altbilgi Yer Tutucusu 3">
            <a:extLst>
              <a:ext uri="{FF2B5EF4-FFF2-40B4-BE49-F238E27FC236}">
                <a16:creationId xmlns:a16="http://schemas.microsoft.com/office/drawing/2014/main" id="{5F149636-F6FF-9D46-2D60-51F4614AA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tr-TR"/>
              <a:t>Adıyaman Üniversitesi Uzaktan Eğitim Uygulama ve Araştırma Merkezi</a:t>
            </a:r>
            <a:endParaRPr lang="tr-TR" dirty="0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BE7C4AAA-B315-011E-3FFA-707F5FB53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0A2A-BC36-407E-86B9-E24EEBA61DF3}" type="slidenum">
              <a:rPr lang="tr-TR" smtClean="0"/>
              <a:pPr/>
              <a:t>3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41191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938AB-5F11-F294-5396-B4F505CD0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4FB5EE06-593A-FE94-31B1-19B618274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Mikrodenetleyici Seçimi</a:t>
            </a:r>
          </a:p>
        </p:txBody>
      </p:sp>
      <p:sp>
        <p:nvSpPr>
          <p:cNvPr id="9" name="İçerik Yer Tutucusu 8">
            <a:extLst>
              <a:ext uri="{FF2B5EF4-FFF2-40B4-BE49-F238E27FC236}">
                <a16:creationId xmlns:a16="http://schemas.microsoft.com/office/drawing/2014/main" id="{51EA9395-EA0A-052A-3960-E954F053E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b="1"/>
              <a:t>2. Yazılım Ekosistemi ve Simülasyon Desteği</a:t>
            </a:r>
          </a:p>
          <a:p>
            <a:endParaRPr lang="tr-TR"/>
          </a:p>
          <a:p>
            <a:r>
              <a:rPr lang="tr-TR"/>
              <a:t>Seçilecek denetleyicinin desteklediği </a:t>
            </a:r>
            <a:r>
              <a:rPr lang="tr-TR" b="1"/>
              <a:t>derleyici (compiler)</a:t>
            </a:r>
            <a:r>
              <a:rPr lang="tr-TR"/>
              <a:t> ve </a:t>
            </a:r>
            <a:r>
              <a:rPr lang="tr-TR" b="1"/>
              <a:t>IDE (Entegre Geliştirme Ortamı)</a:t>
            </a:r>
            <a:r>
              <a:rPr lang="tr-TR"/>
              <a:t> çeşitliliği, yazılım geliştirme sürecinin verimliliğini doğrudan etkiler.</a:t>
            </a:r>
          </a:p>
          <a:p>
            <a:endParaRPr lang="tr-TR"/>
          </a:p>
          <a:p>
            <a:pPr algn="l"/>
            <a:r>
              <a:rPr lang="tr-TR"/>
              <a:t>Fiziksel prototipleme öncesinde, tasarımın doğrulanması adına denetleyicinin gelişmiş </a:t>
            </a:r>
            <a:r>
              <a:rPr lang="tr-TR" b="1"/>
              <a:t>simülasyon araçları</a:t>
            </a:r>
            <a:r>
              <a:rPr lang="tr-TR"/>
              <a:t> (Proteus vb.) tarafından desteklenmesi tercih sebebidir.</a:t>
            </a:r>
          </a:p>
        </p:txBody>
      </p:sp>
      <p:sp>
        <p:nvSpPr>
          <p:cNvPr id="4" name="Altbilgi Yer Tutucusu 3">
            <a:extLst>
              <a:ext uri="{FF2B5EF4-FFF2-40B4-BE49-F238E27FC236}">
                <a16:creationId xmlns:a16="http://schemas.microsoft.com/office/drawing/2014/main" id="{91CD5FB7-28D4-E433-28F7-05B164F33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tr-TR"/>
              <a:t>Adıyaman Üniversitesi Uzaktan Eğitim Uygulama ve Araştırma Merkezi</a:t>
            </a:r>
            <a:endParaRPr lang="tr-TR" dirty="0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E13E59A9-0B77-B7C8-5802-BFB02173E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0A2A-BC36-407E-86B9-E24EEBA61DF3}" type="slidenum">
              <a:rPr lang="tr-TR" smtClean="0"/>
              <a:pPr/>
              <a:t>4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279798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026CF-CDCC-239A-6BBE-E66D5452E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5D15BE6F-C879-F87D-8289-4007FB146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Mikrodenetleyici Seçimi</a:t>
            </a:r>
          </a:p>
        </p:txBody>
      </p:sp>
      <p:sp>
        <p:nvSpPr>
          <p:cNvPr id="9" name="İçerik Yer Tutucusu 8">
            <a:extLst>
              <a:ext uri="{FF2B5EF4-FFF2-40B4-BE49-F238E27FC236}">
                <a16:creationId xmlns:a16="http://schemas.microsoft.com/office/drawing/2014/main" id="{78D20B5B-24B2-4DE4-9048-651E9DADF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771" y="1582382"/>
            <a:ext cx="11134458" cy="5005029"/>
          </a:xfrm>
        </p:spPr>
        <p:txBody>
          <a:bodyPr>
            <a:normAutofit lnSpcReduction="10000"/>
          </a:bodyPr>
          <a:lstStyle/>
          <a:p>
            <a:r>
              <a:rPr lang="tr-TR" b="1"/>
              <a:t>3. İşlemci Mimarisi ve Komut İşleme Teknikleri</a:t>
            </a:r>
          </a:p>
          <a:p>
            <a:endParaRPr lang="tr-TR"/>
          </a:p>
          <a:p>
            <a:r>
              <a:rPr lang="tr-TR"/>
              <a:t>Uygulamanın performans ihtiyacına göre bellek organizasyonu açısından </a:t>
            </a:r>
            <a:r>
              <a:rPr lang="tr-TR" b="1"/>
              <a:t>Harvard</a:t>
            </a:r>
            <a:r>
              <a:rPr lang="tr-TR"/>
              <a:t> veya </a:t>
            </a:r>
            <a:r>
              <a:rPr lang="tr-TR" b="1"/>
              <a:t>Von Neumann</a:t>
            </a:r>
            <a:r>
              <a:rPr lang="tr-TR"/>
              <a:t> mimarileri analiz edilmelidir.</a:t>
            </a:r>
          </a:p>
          <a:p>
            <a:endParaRPr lang="tr-TR"/>
          </a:p>
          <a:p>
            <a:r>
              <a:rPr lang="tr-TR"/>
              <a:t>Komut setinin verimliliği noktasında </a:t>
            </a:r>
            <a:r>
              <a:rPr lang="tr-TR" b="1"/>
              <a:t>RISC</a:t>
            </a:r>
            <a:r>
              <a:rPr lang="tr-TR"/>
              <a:t> (Reduced Instruction Set Computer) veya </a:t>
            </a:r>
            <a:r>
              <a:rPr lang="tr-TR" b="1"/>
              <a:t>CISC</a:t>
            </a:r>
            <a:r>
              <a:rPr lang="tr-TR"/>
              <a:t> (Complex Instruction Set Computer) yapıları, işlem hızı ve güç tüketimi dengesine göre seçilmelidir.</a:t>
            </a:r>
          </a:p>
          <a:p>
            <a:endParaRPr lang="tr-TR"/>
          </a:p>
          <a:p>
            <a:pPr algn="l"/>
            <a:r>
              <a:rPr lang="tr-TR"/>
              <a:t>Denetleyicinin desteklediği </a:t>
            </a:r>
            <a:r>
              <a:rPr lang="tr-TR" b="1"/>
              <a:t>adresleme yöntemleri</a:t>
            </a:r>
            <a:r>
              <a:rPr lang="tr-TR"/>
              <a:t>, yazılımın esnekliği ve bellek erişim hızı açısından kritik öneme sahiptir.</a:t>
            </a:r>
          </a:p>
        </p:txBody>
      </p:sp>
      <p:sp>
        <p:nvSpPr>
          <p:cNvPr id="4" name="Altbilgi Yer Tutucusu 3">
            <a:extLst>
              <a:ext uri="{FF2B5EF4-FFF2-40B4-BE49-F238E27FC236}">
                <a16:creationId xmlns:a16="http://schemas.microsoft.com/office/drawing/2014/main" id="{E44442F3-0E6D-0ED6-4419-3A2ED02A5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tr-TR"/>
              <a:t>Adıyaman Üniversitesi Uzaktan Eğitim Uygulama ve Araştırma Merkezi</a:t>
            </a:r>
            <a:endParaRPr lang="tr-TR" dirty="0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E7937C5B-0D8C-CD6D-8C51-EDCBB842D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0A2A-BC36-407E-86B9-E24EEBA61DF3}" type="slidenum">
              <a:rPr lang="tr-TR" smtClean="0"/>
              <a:pPr/>
              <a:t>5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48278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CA206-A26B-4884-25FD-47BBCF098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08915F87-F028-3ACE-1BB6-7455B8E00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Mikrodenetleyici Seçimi</a:t>
            </a:r>
          </a:p>
        </p:txBody>
      </p:sp>
      <p:sp>
        <p:nvSpPr>
          <p:cNvPr id="9" name="İçerik Yer Tutucusu 8">
            <a:extLst>
              <a:ext uri="{FF2B5EF4-FFF2-40B4-BE49-F238E27FC236}">
                <a16:creationId xmlns:a16="http://schemas.microsoft.com/office/drawing/2014/main" id="{141E222C-4525-38D4-4572-C99BCA3DA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771" y="1582382"/>
            <a:ext cx="11134458" cy="5005029"/>
          </a:xfrm>
        </p:spPr>
        <p:txBody>
          <a:bodyPr>
            <a:normAutofit/>
          </a:bodyPr>
          <a:lstStyle/>
          <a:p>
            <a:r>
              <a:rPr lang="nn-NO" b="1"/>
              <a:t>4. Bellek Teknolojileri ve Uygulama Alanları</a:t>
            </a:r>
            <a:endParaRPr lang="tr-TR" b="1"/>
          </a:p>
          <a:p>
            <a:endParaRPr lang="tr-TR"/>
          </a:p>
          <a:p>
            <a:pPr algn="l"/>
            <a:r>
              <a:rPr lang="tr-TR" b="1"/>
              <a:t>OTP (One-Time Programming):</a:t>
            </a:r>
            <a:r>
              <a:rPr lang="tr-TR"/>
              <a:t> Yazılımın değişmeyeceği, maliyet odaklı seri üretim endüstriyel uygulamalarda tercih edilir.</a:t>
            </a:r>
          </a:p>
          <a:p>
            <a:pPr algn="l"/>
            <a:endParaRPr lang="tr-TR"/>
          </a:p>
          <a:p>
            <a:pPr algn="l"/>
            <a:r>
              <a:rPr lang="tr-TR" b="1"/>
              <a:t>FLASH Bellek:</a:t>
            </a:r>
            <a:r>
              <a:rPr lang="tr-TR"/>
              <a:t> Ürün geliştirme, prototipleme ve güncellenebilir sistemlerde, defalarca programlanabilme özelliği nedeniyle standart olarak kullanılır.</a:t>
            </a:r>
          </a:p>
        </p:txBody>
      </p:sp>
      <p:sp>
        <p:nvSpPr>
          <p:cNvPr id="4" name="Altbilgi Yer Tutucusu 3">
            <a:extLst>
              <a:ext uri="{FF2B5EF4-FFF2-40B4-BE49-F238E27FC236}">
                <a16:creationId xmlns:a16="http://schemas.microsoft.com/office/drawing/2014/main" id="{47D73669-E617-3BC2-1328-70C3E06BF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tr-TR"/>
              <a:t>Adıyaman Üniversitesi Uzaktan Eğitim Uygulama ve Araştırma Merkezi</a:t>
            </a:r>
            <a:endParaRPr lang="tr-TR" dirty="0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958D8FE3-90B7-A16C-214A-9AD4F3C7C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0A2A-BC36-407E-86B9-E24EEBA61DF3}" type="slidenum">
              <a:rPr lang="tr-TR" smtClean="0"/>
              <a:pPr/>
              <a:t>6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766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00592-A776-5656-CE24-3D30520A9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A566EB18-6C83-44FE-894E-10C112F1F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Mikrodenetleyici Seçimi</a:t>
            </a:r>
          </a:p>
        </p:txBody>
      </p:sp>
      <p:sp>
        <p:nvSpPr>
          <p:cNvPr id="9" name="İçerik Yer Tutucusu 8">
            <a:extLst>
              <a:ext uri="{FF2B5EF4-FFF2-40B4-BE49-F238E27FC236}">
                <a16:creationId xmlns:a16="http://schemas.microsoft.com/office/drawing/2014/main" id="{F9E2058A-78EF-7027-FE86-F2C991F44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771" y="1582382"/>
            <a:ext cx="11134458" cy="5005029"/>
          </a:xfrm>
        </p:spPr>
        <p:txBody>
          <a:bodyPr>
            <a:normAutofit/>
          </a:bodyPr>
          <a:lstStyle/>
          <a:p>
            <a:r>
              <a:rPr lang="tr-TR" b="1"/>
              <a:t>5. Fiziksel Tasarım ve Tedarik Süreçleri</a:t>
            </a:r>
          </a:p>
          <a:p>
            <a:endParaRPr lang="tr-TR"/>
          </a:p>
          <a:p>
            <a:r>
              <a:rPr lang="tr-TR"/>
              <a:t>Tasarımın yapılacağı cihazın hacmine bağlı olarak denetleyicinin </a:t>
            </a:r>
            <a:r>
              <a:rPr lang="tr-TR" b="1"/>
              <a:t>fiziksel boyutları (kılıf yapısı)</a:t>
            </a:r>
            <a:r>
              <a:rPr lang="tr-TR"/>
              <a:t> optimize edilmelidir.</a:t>
            </a:r>
          </a:p>
          <a:p>
            <a:endParaRPr lang="tr-TR"/>
          </a:p>
          <a:p>
            <a:r>
              <a:rPr lang="tr-TR"/>
              <a:t>Projenin sürdürülebilirliği açısından, seçilen komponentin </a:t>
            </a:r>
            <a:r>
              <a:rPr lang="tr-TR" b="1"/>
              <a:t>küresel pazarda tedarik edilebilirliği</a:t>
            </a:r>
            <a:r>
              <a:rPr lang="tr-TR"/>
              <a:t> ve sürekliliği garanti altına alınmalıdır.</a:t>
            </a:r>
          </a:p>
        </p:txBody>
      </p:sp>
      <p:sp>
        <p:nvSpPr>
          <p:cNvPr id="4" name="Altbilgi Yer Tutucusu 3">
            <a:extLst>
              <a:ext uri="{FF2B5EF4-FFF2-40B4-BE49-F238E27FC236}">
                <a16:creationId xmlns:a16="http://schemas.microsoft.com/office/drawing/2014/main" id="{05EACFA6-2740-0C53-F039-00C940640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tr-TR"/>
              <a:t>Adıyaman Üniversitesi Uzaktan Eğitim Uygulama ve Araştırma Merkezi</a:t>
            </a:r>
            <a:endParaRPr lang="tr-TR" dirty="0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175408E5-BC56-49BD-543F-5FA5094BC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0A2A-BC36-407E-86B9-E24EEBA61DF3}" type="slidenum">
              <a:rPr lang="tr-TR" smtClean="0"/>
              <a:pPr/>
              <a:t>7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741401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D5243-C121-E4BA-DDE9-FE703F33F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E7FC5CB2-F280-EEAC-809B-E2E7EB36A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Mikrodenetleyici Seçimi</a:t>
            </a:r>
          </a:p>
        </p:txBody>
      </p:sp>
      <p:sp>
        <p:nvSpPr>
          <p:cNvPr id="9" name="İçerik Yer Tutucusu 8">
            <a:extLst>
              <a:ext uri="{FF2B5EF4-FFF2-40B4-BE49-F238E27FC236}">
                <a16:creationId xmlns:a16="http://schemas.microsoft.com/office/drawing/2014/main" id="{ADAC4D64-0536-22DC-47F0-FBE93F08C1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771" y="1582382"/>
            <a:ext cx="11134458" cy="5005029"/>
          </a:xfrm>
        </p:spPr>
        <p:txBody>
          <a:bodyPr>
            <a:normAutofit lnSpcReduction="10000"/>
          </a:bodyPr>
          <a:lstStyle/>
          <a:p>
            <a:r>
              <a:rPr lang="tr-TR" b="1"/>
              <a:t>6. Donanım Özellikleri ve Çevresel Birimler</a:t>
            </a:r>
          </a:p>
          <a:p>
            <a:pPr algn="l"/>
            <a:endParaRPr lang="tr-TR"/>
          </a:p>
          <a:p>
            <a:pPr algn="l"/>
            <a:r>
              <a:rPr lang="tr-TR"/>
              <a:t>Sistemin ihtiyacına göre şu teknik parametreler detaylıca incelenmelidir:</a:t>
            </a:r>
          </a:p>
          <a:p>
            <a:pPr lvl="1"/>
            <a:r>
              <a:rPr lang="tr-TR" sz="2000" b="1"/>
              <a:t>Kelime Genişliği:</a:t>
            </a:r>
            <a:r>
              <a:rPr lang="tr-TR" sz="2000"/>
              <a:t> İşlem kapasitesini belirleyen bit derinliği (8, 16, 32-bit).</a:t>
            </a:r>
          </a:p>
          <a:p>
            <a:pPr lvl="1"/>
            <a:endParaRPr lang="tr-TR" sz="2000" b="1"/>
          </a:p>
          <a:p>
            <a:pPr lvl="1"/>
            <a:r>
              <a:rPr lang="tr-TR" sz="2000" b="1"/>
              <a:t>I/O Kapasitesi:</a:t>
            </a:r>
            <a:r>
              <a:rPr lang="tr-TR" sz="2000"/>
              <a:t> Port sayısı ve giriş/çıkış esnekliği.</a:t>
            </a:r>
          </a:p>
          <a:p>
            <a:pPr lvl="1"/>
            <a:endParaRPr lang="tr-TR" sz="2000" b="1"/>
          </a:p>
          <a:p>
            <a:pPr lvl="1"/>
            <a:r>
              <a:rPr lang="tr-TR" sz="2000" b="1"/>
              <a:t>Hafıza Kapasitesi:</a:t>
            </a:r>
            <a:r>
              <a:rPr lang="tr-TR" sz="2000"/>
              <a:t> Program belleği (</a:t>
            </a:r>
            <a:r>
              <a:rPr lang="tr-TR" sz="2000" b="1"/>
              <a:t>ROM</a:t>
            </a:r>
            <a:r>
              <a:rPr lang="tr-TR" sz="2000"/>
              <a:t>), veri belleği (</a:t>
            </a:r>
            <a:r>
              <a:rPr lang="tr-TR" sz="2000" b="1"/>
              <a:t>RAM</a:t>
            </a:r>
            <a:r>
              <a:rPr lang="tr-TR" sz="2000"/>
              <a:t>) ve kalıcı veri depolama (</a:t>
            </a:r>
            <a:r>
              <a:rPr lang="tr-TR" sz="2000" b="1"/>
              <a:t>EEPROM</a:t>
            </a:r>
            <a:r>
              <a:rPr lang="tr-TR" sz="2000"/>
              <a:t>).</a:t>
            </a:r>
          </a:p>
          <a:p>
            <a:pPr lvl="1"/>
            <a:endParaRPr lang="tr-TR" sz="2000" b="1"/>
          </a:p>
          <a:p>
            <a:pPr lvl="1"/>
            <a:r>
              <a:rPr lang="tr-TR" sz="2000" b="1"/>
              <a:t>Zamanlama ve Kesmeler:</a:t>
            </a:r>
            <a:r>
              <a:rPr lang="tr-TR" sz="2000"/>
              <a:t> Timer (zamanlayıcı) sayısı, çalışma frekansı ve </a:t>
            </a:r>
            <a:r>
              <a:rPr lang="tr-TR" sz="2000" b="1"/>
              <a:t>Kesme (Interrupt)</a:t>
            </a:r>
            <a:r>
              <a:rPr lang="tr-TR" sz="2000"/>
              <a:t> yönetimi yetenekleri.</a:t>
            </a:r>
          </a:p>
        </p:txBody>
      </p:sp>
      <p:sp>
        <p:nvSpPr>
          <p:cNvPr id="4" name="Altbilgi Yer Tutucusu 3">
            <a:extLst>
              <a:ext uri="{FF2B5EF4-FFF2-40B4-BE49-F238E27FC236}">
                <a16:creationId xmlns:a16="http://schemas.microsoft.com/office/drawing/2014/main" id="{750528D2-7DFC-A069-685E-9466D3B60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tr-TR"/>
              <a:t>Adıyaman Üniversitesi Uzaktan Eğitim Uygulama ve Araştırma Merkezi</a:t>
            </a:r>
            <a:endParaRPr lang="tr-TR" dirty="0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EC4AA1FD-1D25-0962-79D5-81781049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0A2A-BC36-407E-86B9-E24EEBA61DF3}" type="slidenum">
              <a:rPr lang="tr-TR" smtClean="0"/>
              <a:pPr/>
              <a:t>8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216992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EE250-4978-E54B-8A62-8D31554AA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62A829C4-5D44-A0AF-38AD-9D0C86E28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Mikrodenetleyici Seçimi</a:t>
            </a:r>
          </a:p>
        </p:txBody>
      </p:sp>
      <p:sp>
        <p:nvSpPr>
          <p:cNvPr id="4" name="Altbilgi Yer Tutucusu 3">
            <a:extLst>
              <a:ext uri="{FF2B5EF4-FFF2-40B4-BE49-F238E27FC236}">
                <a16:creationId xmlns:a16="http://schemas.microsoft.com/office/drawing/2014/main" id="{D93F1A86-A777-D8BE-969A-C6CDA13BE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tr-TR"/>
              <a:t>Adıyaman Üniversitesi Uzaktan Eğitim Uygulama ve Araştırma Merkezi</a:t>
            </a:r>
            <a:endParaRPr lang="tr-TR" dirty="0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CDCA62BF-2E3C-1B78-A2A6-C4A63EAB3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0A2A-BC36-407E-86B9-E24EEBA61DF3}" type="slidenum">
              <a:rPr lang="tr-TR" smtClean="0"/>
              <a:pPr/>
              <a:t>9</a:t>
            </a:fld>
            <a:endParaRPr lang="tr-TR" dirty="0"/>
          </a:p>
        </p:txBody>
      </p:sp>
      <p:graphicFrame>
        <p:nvGraphicFramePr>
          <p:cNvPr id="7" name="Tablo 6">
            <a:extLst>
              <a:ext uri="{FF2B5EF4-FFF2-40B4-BE49-F238E27FC236}">
                <a16:creationId xmlns:a16="http://schemas.microsoft.com/office/drawing/2014/main" id="{2DB19F11-024E-367B-8F17-D81BB83174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9133323"/>
              </p:ext>
            </p:extLst>
          </p:nvPr>
        </p:nvGraphicFramePr>
        <p:xfrm>
          <a:off x="2126418" y="1555037"/>
          <a:ext cx="8295876" cy="4547772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765292">
                  <a:extLst>
                    <a:ext uri="{9D8B030D-6E8A-4147-A177-3AD203B41FA5}">
                      <a16:colId xmlns:a16="http://schemas.microsoft.com/office/drawing/2014/main" val="2001608355"/>
                    </a:ext>
                  </a:extLst>
                </a:gridCol>
                <a:gridCol w="2765292">
                  <a:extLst>
                    <a:ext uri="{9D8B030D-6E8A-4147-A177-3AD203B41FA5}">
                      <a16:colId xmlns:a16="http://schemas.microsoft.com/office/drawing/2014/main" val="3082530903"/>
                    </a:ext>
                  </a:extLst>
                </a:gridCol>
                <a:gridCol w="2765292">
                  <a:extLst>
                    <a:ext uri="{9D8B030D-6E8A-4147-A177-3AD203B41FA5}">
                      <a16:colId xmlns:a16="http://schemas.microsoft.com/office/drawing/2014/main" val="1522537603"/>
                    </a:ext>
                  </a:extLst>
                </a:gridCol>
              </a:tblGrid>
              <a:tr h="37741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300" b="1">
                          <a:solidFill>
                            <a:srgbClr val="1F1F1F"/>
                          </a:solidFill>
                          <a:effectLst/>
                        </a:rPr>
                        <a:t>Firma</a:t>
                      </a:r>
                      <a:endParaRPr lang="tr-T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6602" marR="66602" marT="88803" marB="8880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300" b="1">
                          <a:solidFill>
                            <a:srgbClr val="1F1F1F"/>
                          </a:solidFill>
                          <a:effectLst/>
                        </a:rPr>
                        <a:t>Ürettikleri Denetleyiciler</a:t>
                      </a:r>
                      <a:endParaRPr lang="tr-T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6602" marR="66602" marT="88803" marB="8880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300" b="1">
                          <a:solidFill>
                            <a:srgbClr val="1F1F1F"/>
                          </a:solidFill>
                          <a:effectLst/>
                        </a:rPr>
                        <a:t>Firma Merkezleri</a:t>
                      </a:r>
                      <a:endParaRPr lang="tr-T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6602" marR="66602" marT="88803" marB="88803" anchor="ctr"/>
                </a:tc>
                <a:extLst>
                  <a:ext uri="{0D108BD9-81ED-4DB2-BD59-A6C34878D82A}">
                    <a16:rowId xmlns:a16="http://schemas.microsoft.com/office/drawing/2014/main" val="2325329911"/>
                  </a:ext>
                </a:extLst>
              </a:tr>
              <a:tr h="37741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300" b="1">
                          <a:solidFill>
                            <a:srgbClr val="1F1F1F"/>
                          </a:solidFill>
                          <a:effectLst/>
                        </a:rPr>
                        <a:t>Intel</a:t>
                      </a:r>
                      <a:endParaRPr lang="tr-T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6602" marR="66602" marT="88803" marB="8880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300">
                          <a:solidFill>
                            <a:srgbClr val="1F1F1F"/>
                          </a:solidFill>
                          <a:effectLst/>
                        </a:rPr>
                        <a:t>8051, 8052, 80251</a:t>
                      </a:r>
                      <a:endParaRPr lang="tr-T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6602" marR="66602" marT="88803" marB="8880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300">
                          <a:solidFill>
                            <a:srgbClr val="1F1F1F"/>
                          </a:solidFill>
                          <a:effectLst/>
                        </a:rPr>
                        <a:t>Santa Clara, California, ABD</a:t>
                      </a:r>
                      <a:endParaRPr lang="tr-T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6602" marR="66602" marT="88803" marB="88803" anchor="ctr"/>
                </a:tc>
                <a:extLst>
                  <a:ext uri="{0D108BD9-81ED-4DB2-BD59-A6C34878D82A}">
                    <a16:rowId xmlns:a16="http://schemas.microsoft.com/office/drawing/2014/main" val="1460764591"/>
                  </a:ext>
                </a:extLst>
              </a:tr>
              <a:tr h="37741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300" b="1">
                          <a:solidFill>
                            <a:srgbClr val="1F1F1F"/>
                          </a:solidFill>
                          <a:effectLst/>
                        </a:rPr>
                        <a:t>Texas Instruments</a:t>
                      </a:r>
                      <a:endParaRPr lang="tr-T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6602" marR="66602" marT="88803" marB="8880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300">
                          <a:solidFill>
                            <a:srgbClr val="1F1F1F"/>
                          </a:solidFill>
                          <a:effectLst/>
                        </a:rPr>
                        <a:t>MSP430, TMS320C2xxx</a:t>
                      </a:r>
                      <a:endParaRPr lang="tr-T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6602" marR="66602" marT="88803" marB="8880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300">
                          <a:solidFill>
                            <a:srgbClr val="1F1F1F"/>
                          </a:solidFill>
                          <a:effectLst/>
                        </a:rPr>
                        <a:t>Texas, ABD</a:t>
                      </a:r>
                      <a:endParaRPr lang="tr-T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6602" marR="66602" marT="88803" marB="88803" anchor="ctr"/>
                </a:tc>
                <a:extLst>
                  <a:ext uri="{0D108BD9-81ED-4DB2-BD59-A6C34878D82A}">
                    <a16:rowId xmlns:a16="http://schemas.microsoft.com/office/drawing/2014/main" val="4254514439"/>
                  </a:ext>
                </a:extLst>
              </a:tr>
              <a:tr h="37741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300" b="1">
                          <a:solidFill>
                            <a:srgbClr val="1F1F1F"/>
                          </a:solidFill>
                          <a:effectLst/>
                        </a:rPr>
                        <a:t>Freescale</a:t>
                      </a:r>
                      <a:endParaRPr lang="tr-T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6602" marR="66602" marT="88803" marB="8880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300">
                          <a:solidFill>
                            <a:srgbClr val="1F1F1F"/>
                          </a:solidFill>
                          <a:effectLst/>
                        </a:rPr>
                        <a:t>68HC11, S08, ColdFire</a:t>
                      </a:r>
                      <a:endParaRPr lang="tr-T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6602" marR="66602" marT="88803" marB="8880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300">
                          <a:solidFill>
                            <a:srgbClr val="1F1F1F"/>
                          </a:solidFill>
                          <a:effectLst/>
                        </a:rPr>
                        <a:t>Austin, Texas</a:t>
                      </a:r>
                      <a:endParaRPr lang="tr-T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6602" marR="66602" marT="88803" marB="88803" anchor="ctr"/>
                </a:tc>
                <a:extLst>
                  <a:ext uri="{0D108BD9-81ED-4DB2-BD59-A6C34878D82A}">
                    <a16:rowId xmlns:a16="http://schemas.microsoft.com/office/drawing/2014/main" val="3076334978"/>
                  </a:ext>
                </a:extLst>
              </a:tr>
              <a:tr h="57721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300" b="1" u="sng">
                          <a:solidFill>
                            <a:srgbClr val="1F1F1F"/>
                          </a:solidFill>
                          <a:effectLst/>
                        </a:rPr>
                        <a:t>Microchip Technology</a:t>
                      </a:r>
                      <a:endParaRPr lang="tr-TR" sz="1300" u="sng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6602" marR="66602" marT="88803" marB="8880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300">
                          <a:solidFill>
                            <a:srgbClr val="1F1F1F"/>
                          </a:solidFill>
                          <a:effectLst/>
                        </a:rPr>
                        <a:t>PIC16, PIC18, PIC24, PIC32, DSPIC33</a:t>
                      </a:r>
                      <a:endParaRPr lang="en-US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6602" marR="66602" marT="88803" marB="8880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300">
                          <a:solidFill>
                            <a:srgbClr val="1F1F1F"/>
                          </a:solidFill>
                          <a:effectLst/>
                        </a:rPr>
                        <a:t>Arizona, ABD</a:t>
                      </a:r>
                      <a:endParaRPr lang="tr-T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6602" marR="66602" marT="88803" marB="88803" anchor="ctr"/>
                </a:tc>
                <a:extLst>
                  <a:ext uri="{0D108BD9-81ED-4DB2-BD59-A6C34878D82A}">
                    <a16:rowId xmlns:a16="http://schemas.microsoft.com/office/drawing/2014/main" val="3615964439"/>
                  </a:ext>
                </a:extLst>
              </a:tr>
              <a:tr h="37741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300" b="1">
                          <a:solidFill>
                            <a:srgbClr val="1F1F1F"/>
                          </a:solidFill>
                          <a:effectLst/>
                        </a:rPr>
                        <a:t>Atmel</a:t>
                      </a:r>
                      <a:endParaRPr lang="tr-T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6602" marR="66602" marT="88803" marB="8880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300">
                          <a:solidFill>
                            <a:srgbClr val="1F1F1F"/>
                          </a:solidFill>
                          <a:effectLst/>
                        </a:rPr>
                        <a:t>AVR, AVR32, ATmega88, ATmega32</a:t>
                      </a:r>
                      <a:endParaRPr lang="tr-T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6602" marR="66602" marT="88803" marB="8880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300">
                          <a:solidFill>
                            <a:srgbClr val="1F1F1F"/>
                          </a:solidFill>
                          <a:effectLst/>
                        </a:rPr>
                        <a:t>California, ABD</a:t>
                      </a:r>
                      <a:endParaRPr lang="tr-T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6602" marR="66602" marT="88803" marB="88803" anchor="ctr"/>
                </a:tc>
                <a:extLst>
                  <a:ext uri="{0D108BD9-81ED-4DB2-BD59-A6C34878D82A}">
                    <a16:rowId xmlns:a16="http://schemas.microsoft.com/office/drawing/2014/main" val="645922822"/>
                  </a:ext>
                </a:extLst>
              </a:tr>
              <a:tr h="37741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300" b="1">
                          <a:solidFill>
                            <a:srgbClr val="1F1F1F"/>
                          </a:solidFill>
                          <a:effectLst/>
                        </a:rPr>
                        <a:t>STMicroelectronics</a:t>
                      </a:r>
                      <a:endParaRPr lang="tr-T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6602" marR="66602" marT="88803" marB="8880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300">
                          <a:solidFill>
                            <a:srgbClr val="1F1F1F"/>
                          </a:solidFill>
                          <a:effectLst/>
                        </a:rPr>
                        <a:t>STM8, STM10, STM32</a:t>
                      </a:r>
                      <a:endParaRPr lang="tr-T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6602" marR="66602" marT="88803" marB="8880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300">
                          <a:solidFill>
                            <a:srgbClr val="1F1F1F"/>
                          </a:solidFill>
                          <a:effectLst/>
                        </a:rPr>
                        <a:t>Cenevre, İsviçre</a:t>
                      </a:r>
                      <a:endParaRPr lang="tr-T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6602" marR="66602" marT="88803" marB="88803" anchor="ctr"/>
                </a:tc>
                <a:extLst>
                  <a:ext uri="{0D108BD9-81ED-4DB2-BD59-A6C34878D82A}">
                    <a16:rowId xmlns:a16="http://schemas.microsoft.com/office/drawing/2014/main" val="3957704979"/>
                  </a:ext>
                </a:extLst>
              </a:tr>
              <a:tr h="37741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300" b="1">
                          <a:solidFill>
                            <a:srgbClr val="1F1F1F"/>
                          </a:solidFill>
                          <a:effectLst/>
                        </a:rPr>
                        <a:t>Renesas Electronics</a:t>
                      </a:r>
                      <a:endParaRPr lang="tr-T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6602" marR="66602" marT="88803" marB="8880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300">
                          <a:solidFill>
                            <a:srgbClr val="1F1F1F"/>
                          </a:solidFill>
                          <a:effectLst/>
                        </a:rPr>
                        <a:t>R8C, V850, RL78, RX</a:t>
                      </a:r>
                      <a:endParaRPr lang="tr-T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6602" marR="66602" marT="88803" marB="8880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300">
                          <a:solidFill>
                            <a:srgbClr val="1F1F1F"/>
                          </a:solidFill>
                          <a:effectLst/>
                        </a:rPr>
                        <a:t>Tokyo, Japonya</a:t>
                      </a:r>
                      <a:endParaRPr lang="tr-T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6602" marR="66602" marT="88803" marB="88803" anchor="ctr"/>
                </a:tc>
                <a:extLst>
                  <a:ext uri="{0D108BD9-81ED-4DB2-BD59-A6C34878D82A}">
                    <a16:rowId xmlns:a16="http://schemas.microsoft.com/office/drawing/2014/main" val="619884610"/>
                  </a:ext>
                </a:extLst>
              </a:tr>
              <a:tr h="37741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300" b="1">
                          <a:solidFill>
                            <a:srgbClr val="1F1F1F"/>
                          </a:solidFill>
                          <a:effectLst/>
                        </a:rPr>
                        <a:t>Toshiba</a:t>
                      </a:r>
                      <a:endParaRPr lang="tr-T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6602" marR="66602" marT="88803" marB="8880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300">
                          <a:solidFill>
                            <a:srgbClr val="1F1F1F"/>
                          </a:solidFill>
                          <a:effectLst/>
                        </a:rPr>
                        <a:t>TLCS-870, TLCS-900</a:t>
                      </a:r>
                      <a:endParaRPr lang="tr-T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6602" marR="66602" marT="88803" marB="8880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300">
                          <a:solidFill>
                            <a:srgbClr val="1F1F1F"/>
                          </a:solidFill>
                          <a:effectLst/>
                        </a:rPr>
                        <a:t>Tokyo, Japonya</a:t>
                      </a:r>
                      <a:endParaRPr lang="tr-T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6602" marR="66602" marT="88803" marB="88803" anchor="ctr"/>
                </a:tc>
                <a:extLst>
                  <a:ext uri="{0D108BD9-81ED-4DB2-BD59-A6C34878D82A}">
                    <a16:rowId xmlns:a16="http://schemas.microsoft.com/office/drawing/2014/main" val="4102898794"/>
                  </a:ext>
                </a:extLst>
              </a:tr>
              <a:tr h="37741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300" b="1">
                          <a:solidFill>
                            <a:srgbClr val="1F1F1F"/>
                          </a:solidFill>
                          <a:effectLst/>
                        </a:rPr>
                        <a:t>NXP Semiconductors</a:t>
                      </a:r>
                      <a:endParaRPr lang="tr-T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6602" marR="66602" marT="88803" marB="8880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300">
                          <a:solidFill>
                            <a:srgbClr val="1F1F1F"/>
                          </a:solidFill>
                          <a:effectLst/>
                        </a:rPr>
                        <a:t>LPC1000, LPC2000, LPC3000</a:t>
                      </a:r>
                      <a:endParaRPr lang="tr-T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6602" marR="66602" marT="88803" marB="8880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300">
                          <a:solidFill>
                            <a:srgbClr val="1F1F1F"/>
                          </a:solidFill>
                          <a:effectLst/>
                        </a:rPr>
                        <a:t>Eindhoven, Hollanda</a:t>
                      </a:r>
                      <a:endParaRPr lang="tr-T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6602" marR="66602" marT="88803" marB="88803" anchor="ctr"/>
                </a:tc>
                <a:extLst>
                  <a:ext uri="{0D108BD9-81ED-4DB2-BD59-A6C34878D82A}">
                    <a16:rowId xmlns:a16="http://schemas.microsoft.com/office/drawing/2014/main" val="180237703"/>
                  </a:ext>
                </a:extLst>
              </a:tr>
              <a:tr h="37741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300" b="1">
                          <a:solidFill>
                            <a:srgbClr val="1F1F1F"/>
                          </a:solidFill>
                          <a:effectLst/>
                        </a:rPr>
                        <a:t>Infineon</a:t>
                      </a:r>
                      <a:endParaRPr lang="tr-T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6602" marR="66602" marT="88803" marB="8880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300">
                          <a:solidFill>
                            <a:srgbClr val="1F1F1F"/>
                          </a:solidFill>
                          <a:effectLst/>
                        </a:rPr>
                        <a:t>XC800, XE166, XMC4000</a:t>
                      </a:r>
                      <a:endParaRPr lang="tr-T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6602" marR="66602" marT="88803" marB="8880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300">
                          <a:solidFill>
                            <a:srgbClr val="1F1F1F"/>
                          </a:solidFill>
                          <a:effectLst/>
                        </a:rPr>
                        <a:t>Neubiberg, Almanya</a:t>
                      </a:r>
                      <a:endParaRPr lang="tr-T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6602" marR="66602" marT="88803" marB="88803" anchor="ctr"/>
                </a:tc>
                <a:extLst>
                  <a:ext uri="{0D108BD9-81ED-4DB2-BD59-A6C34878D82A}">
                    <a16:rowId xmlns:a16="http://schemas.microsoft.com/office/drawing/2014/main" val="3760721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42698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BFB04-8A61-132C-24AC-DCE280182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18E27746-9B86-B90E-14B3-15EB33066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/>
              <a:t>PIC Mikrodenetleyicilerin Avantajları</a:t>
            </a:r>
          </a:p>
        </p:txBody>
      </p:sp>
      <p:sp>
        <p:nvSpPr>
          <p:cNvPr id="9" name="İçerik Yer Tutucusu 8">
            <a:extLst>
              <a:ext uri="{FF2B5EF4-FFF2-40B4-BE49-F238E27FC236}">
                <a16:creationId xmlns:a16="http://schemas.microsoft.com/office/drawing/2014/main" id="{7174CB5F-A9B3-296D-5FDD-4968C6033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tr-TR" b="1"/>
              <a:t>Ekonomik ve Erişilebilir:</a:t>
            </a:r>
            <a:r>
              <a:rPr lang="tr-TR"/>
              <a:t> Düşük maliyet, ücretsiz </a:t>
            </a:r>
            <a:r>
              <a:rPr lang="tr-TR" b="1"/>
              <a:t>MPLAB</a:t>
            </a:r>
            <a:r>
              <a:rPr lang="tr-TR"/>
              <a:t> yazılımı ve zengin Türkçe/İngilizce kaynak desteği.</a:t>
            </a:r>
          </a:p>
          <a:p>
            <a:pPr algn="l"/>
            <a:endParaRPr lang="tr-TR"/>
          </a:p>
          <a:p>
            <a:pPr algn="l"/>
            <a:r>
              <a:rPr lang="tr-TR" b="1"/>
              <a:t>Güçlü Mimari:</a:t>
            </a:r>
            <a:r>
              <a:rPr lang="tr-TR"/>
              <a:t> Yüksek işlem hızı sağlayan </a:t>
            </a:r>
            <a:r>
              <a:rPr lang="tr-TR" b="1"/>
              <a:t>Harvard</a:t>
            </a:r>
            <a:r>
              <a:rPr lang="tr-TR"/>
              <a:t> yapısı ve verimli </a:t>
            </a:r>
            <a:r>
              <a:rPr lang="tr-TR" b="1"/>
              <a:t>RISC</a:t>
            </a:r>
            <a:r>
              <a:rPr lang="tr-TR"/>
              <a:t> (az sayıda komut) mimarisi.</a:t>
            </a:r>
          </a:p>
          <a:p>
            <a:pPr algn="l"/>
            <a:endParaRPr lang="tr-TR"/>
          </a:p>
          <a:p>
            <a:pPr algn="l"/>
            <a:r>
              <a:rPr lang="tr-TR" b="1"/>
              <a:t>Esnek Donanım:</a:t>
            </a:r>
            <a:r>
              <a:rPr lang="tr-TR"/>
              <a:t> 6 ile 100 pin arası seçenekler ve farklı projeler için çeşitli fiziksel kılıf (DIP/SMD) alternatifleri.</a:t>
            </a:r>
          </a:p>
        </p:txBody>
      </p:sp>
      <p:sp>
        <p:nvSpPr>
          <p:cNvPr id="4" name="Altbilgi Yer Tutucusu 3">
            <a:extLst>
              <a:ext uri="{FF2B5EF4-FFF2-40B4-BE49-F238E27FC236}">
                <a16:creationId xmlns:a16="http://schemas.microsoft.com/office/drawing/2014/main" id="{F5878D31-5B37-5E12-D4CB-387C70603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tr-TR"/>
              <a:t>Adıyaman Üniversitesi Uzaktan Eğitim Uygulama ve Araştırma Merkezi</a:t>
            </a:r>
            <a:endParaRPr lang="tr-TR" dirty="0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04320CCA-E398-7FE3-DB16-490DB486F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0A2A-BC36-407E-86B9-E24EEBA61DF3}" type="slidenum">
              <a:rPr lang="tr-TR" smtClean="0"/>
              <a:pPr/>
              <a:t>10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65592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7117D-36D3-2E51-5122-E6E80B1FC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5EB01726-F0E8-AB67-688A-DFD3B87C7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/>
              <a:t>PIC Mikrodenetleyicilerin Avantajları</a:t>
            </a:r>
          </a:p>
        </p:txBody>
      </p:sp>
      <p:sp>
        <p:nvSpPr>
          <p:cNvPr id="9" name="İçerik Yer Tutucusu 8">
            <a:extLst>
              <a:ext uri="{FF2B5EF4-FFF2-40B4-BE49-F238E27FC236}">
                <a16:creationId xmlns:a16="http://schemas.microsoft.com/office/drawing/2014/main" id="{2B27554E-0238-37A8-8D91-4A8F06F98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tr-TR" b="1"/>
              <a:t>Kolay Programlama:</a:t>
            </a:r>
            <a:r>
              <a:rPr lang="tr-TR"/>
              <a:t> Sadece </a:t>
            </a:r>
            <a:r>
              <a:rPr lang="tr-TR" b="1"/>
              <a:t>35 komut</a:t>
            </a:r>
            <a:r>
              <a:rPr lang="tr-TR"/>
              <a:t> (16F877A örneği) ile basit kullanım; </a:t>
            </a:r>
            <a:r>
              <a:rPr lang="tr-TR" b="1"/>
              <a:t>C, Assembly ve Basic</a:t>
            </a:r>
            <a:r>
              <a:rPr lang="tr-TR"/>
              <a:t> dilleri ile tam uyum.</a:t>
            </a:r>
          </a:p>
          <a:p>
            <a:pPr algn="l"/>
            <a:endParaRPr lang="tr-TR"/>
          </a:p>
          <a:p>
            <a:pPr algn="l"/>
            <a:r>
              <a:rPr lang="tr-TR" b="1"/>
              <a:t>Geniş Ekosistem:</a:t>
            </a:r>
            <a:r>
              <a:rPr lang="tr-TR"/>
              <a:t> Piyasada kolay bulunabilirlik ve global kullanıcı topluluğu sayesinde hızlı çözüm üretme imkanı.</a:t>
            </a:r>
          </a:p>
        </p:txBody>
      </p:sp>
      <p:sp>
        <p:nvSpPr>
          <p:cNvPr id="4" name="Altbilgi Yer Tutucusu 3">
            <a:extLst>
              <a:ext uri="{FF2B5EF4-FFF2-40B4-BE49-F238E27FC236}">
                <a16:creationId xmlns:a16="http://schemas.microsoft.com/office/drawing/2014/main" id="{0C466BAC-245F-6F18-411B-58CF15694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tr-TR"/>
              <a:t>Adıyaman Üniversitesi Uzaktan Eğitim Uygulama ve Araştırma Merkezi</a:t>
            </a:r>
            <a:endParaRPr lang="tr-TR" dirty="0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EE8C7AAA-E4A4-5564-DB47-5A07D0A21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0A2A-BC36-407E-86B9-E24EEBA61DF3}" type="slidenum">
              <a:rPr lang="tr-TR" smtClean="0"/>
              <a:pPr/>
              <a:t>11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8721406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EE536-91A7-04E6-E4A5-FCDA1E466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A38AE64-6A45-DEB9-AAB0-877C3C7DA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Sensörler ve Mikrodenetleyiciler</a:t>
            </a:r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B71C18F9-7707-60D5-A91C-BC24AEE02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tr-TR"/>
              <a:t>Adıyaman Üniversitesi Uzaktan Eğitim Uygulama ve Araştırma Merkezi</a:t>
            </a:r>
            <a:endParaRPr lang="tr-TR" dirty="0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C2FF5BEC-0EF7-E14E-1223-82FAC3E05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0A2A-BC36-407E-86B9-E24EEBA61DF3}" type="slidenum">
              <a:rPr lang="tr-TR" smtClean="0"/>
              <a:pPr/>
              <a:t>12</a:t>
            </a:fld>
            <a:endParaRPr lang="tr-TR" dirty="0"/>
          </a:p>
        </p:txBody>
      </p:sp>
      <p:graphicFrame>
        <p:nvGraphicFramePr>
          <p:cNvPr id="6" name="Tablo 5">
            <a:extLst>
              <a:ext uri="{FF2B5EF4-FFF2-40B4-BE49-F238E27FC236}">
                <a16:creationId xmlns:a16="http://schemas.microsoft.com/office/drawing/2014/main" id="{49F1CBFB-EE87-5D05-AAFB-4C980462FC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320212"/>
              </p:ext>
            </p:extLst>
          </p:nvPr>
        </p:nvGraphicFramePr>
        <p:xfrm>
          <a:off x="1799244" y="1825624"/>
          <a:ext cx="9024268" cy="3759011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256067">
                  <a:extLst>
                    <a:ext uri="{9D8B030D-6E8A-4147-A177-3AD203B41FA5}">
                      <a16:colId xmlns:a16="http://schemas.microsoft.com/office/drawing/2014/main" val="1360965001"/>
                    </a:ext>
                  </a:extLst>
                </a:gridCol>
                <a:gridCol w="1412428">
                  <a:extLst>
                    <a:ext uri="{9D8B030D-6E8A-4147-A177-3AD203B41FA5}">
                      <a16:colId xmlns:a16="http://schemas.microsoft.com/office/drawing/2014/main" val="3754023146"/>
                    </a:ext>
                  </a:extLst>
                </a:gridCol>
                <a:gridCol w="2733869">
                  <a:extLst>
                    <a:ext uri="{9D8B030D-6E8A-4147-A177-3AD203B41FA5}">
                      <a16:colId xmlns:a16="http://schemas.microsoft.com/office/drawing/2014/main" val="451662655"/>
                    </a:ext>
                  </a:extLst>
                </a:gridCol>
                <a:gridCol w="2621904">
                  <a:extLst>
                    <a:ext uri="{9D8B030D-6E8A-4147-A177-3AD203B41FA5}">
                      <a16:colId xmlns:a16="http://schemas.microsoft.com/office/drawing/2014/main" val="596428487"/>
                    </a:ext>
                  </a:extLst>
                </a:gridCol>
              </a:tblGrid>
              <a:tr h="38729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300" b="1">
                          <a:solidFill>
                            <a:srgbClr val="1F1F1F"/>
                          </a:solidFill>
                          <a:effectLst/>
                        </a:rPr>
                        <a:t>Aşama</a:t>
                      </a:r>
                      <a:endParaRPr lang="tr-T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8346" marR="68346" marT="91127" marB="91127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300" b="1">
                          <a:solidFill>
                            <a:srgbClr val="1F1F1F"/>
                          </a:solidFill>
                          <a:effectLst/>
                        </a:rPr>
                        <a:t>Birim</a:t>
                      </a:r>
                      <a:endParaRPr lang="tr-T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8346" marR="68346" marT="91127" marB="91127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300" b="1">
                          <a:solidFill>
                            <a:srgbClr val="1F1F1F"/>
                          </a:solidFill>
                          <a:effectLst/>
                        </a:rPr>
                        <a:t>Görevi</a:t>
                      </a:r>
                      <a:endParaRPr lang="tr-T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8346" marR="68346" marT="91127" marB="91127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300" b="1">
                          <a:solidFill>
                            <a:srgbClr val="1F1F1F"/>
                          </a:solidFill>
                          <a:effectLst/>
                        </a:rPr>
                        <a:t>Elektronik Karşılığı</a:t>
                      </a:r>
                      <a:endParaRPr lang="tr-T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8346" marR="68346" marT="91127" marB="91127" anchor="ctr"/>
                </a:tc>
                <a:extLst>
                  <a:ext uri="{0D108BD9-81ED-4DB2-BD59-A6C34878D82A}">
                    <a16:rowId xmlns:a16="http://schemas.microsoft.com/office/drawing/2014/main" val="3888301441"/>
                  </a:ext>
                </a:extLst>
              </a:tr>
              <a:tr h="59232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300" b="1">
                          <a:solidFill>
                            <a:srgbClr val="1F1F1F"/>
                          </a:solidFill>
                          <a:effectLst/>
                        </a:rPr>
                        <a:t>1. Fiziksel</a:t>
                      </a:r>
                      <a:endParaRPr lang="tr-T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8346" marR="68346" marT="91127" marB="91127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300" b="1">
                          <a:solidFill>
                            <a:srgbClr val="1F1F1F"/>
                          </a:solidFill>
                          <a:effectLst/>
                        </a:rPr>
                        <a:t>Doğa</a:t>
                      </a:r>
                      <a:endParaRPr lang="tr-T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8346" marR="68346" marT="91127" marB="91127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300">
                          <a:solidFill>
                            <a:srgbClr val="1F1F1F"/>
                          </a:solidFill>
                          <a:effectLst/>
                        </a:rPr>
                        <a:t>Enerji üretimi (Isı, Işık, Basınç)</a:t>
                      </a:r>
                      <a:endParaRPr lang="tr-T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8346" marR="68346" marT="91127" marB="91127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300">
                          <a:solidFill>
                            <a:srgbClr val="1F1F1F"/>
                          </a:solidFill>
                          <a:effectLst/>
                        </a:rPr>
                        <a:t>Isı, Foton, Mekanik Kuvvet</a:t>
                      </a:r>
                      <a:endParaRPr lang="tr-T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8346" marR="68346" marT="91127" marB="91127" anchor="ctr"/>
                </a:tc>
                <a:extLst>
                  <a:ext uri="{0D108BD9-81ED-4DB2-BD59-A6C34878D82A}">
                    <a16:rowId xmlns:a16="http://schemas.microsoft.com/office/drawing/2014/main" val="4121995135"/>
                  </a:ext>
                </a:extLst>
              </a:tr>
              <a:tr h="79736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300" b="1">
                          <a:solidFill>
                            <a:srgbClr val="1F1F1F"/>
                          </a:solidFill>
                          <a:effectLst/>
                        </a:rPr>
                        <a:t>2. Algılama</a:t>
                      </a:r>
                      <a:endParaRPr lang="tr-T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8346" marR="68346" marT="91127" marB="91127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300" b="1">
                          <a:solidFill>
                            <a:srgbClr val="1F1F1F"/>
                          </a:solidFill>
                          <a:effectLst/>
                        </a:rPr>
                        <a:t>Sensör</a:t>
                      </a:r>
                      <a:endParaRPr lang="tr-T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8346" marR="68346" marT="91127" marB="91127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300">
                          <a:solidFill>
                            <a:srgbClr val="1F1F1F"/>
                          </a:solidFill>
                          <a:effectLst/>
                        </a:rPr>
                        <a:t>Fiziksel değişimi elektriksel değişime çevirir.</a:t>
                      </a:r>
                      <a:endParaRPr lang="tr-T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8346" marR="68346" marT="91127" marB="91127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300">
                          <a:solidFill>
                            <a:srgbClr val="1F1F1F"/>
                          </a:solidFill>
                          <a:effectLst/>
                        </a:rPr>
                        <a:t>Direnç, Kapasite veya Voltaj değişimi.</a:t>
                      </a:r>
                      <a:endParaRPr lang="tr-T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8346" marR="68346" marT="91127" marB="91127" anchor="ctr"/>
                </a:tc>
                <a:extLst>
                  <a:ext uri="{0D108BD9-81ED-4DB2-BD59-A6C34878D82A}">
                    <a16:rowId xmlns:a16="http://schemas.microsoft.com/office/drawing/2014/main" val="2893051462"/>
                  </a:ext>
                </a:extLst>
              </a:tr>
              <a:tr h="59232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300" b="1">
                          <a:solidFill>
                            <a:srgbClr val="1F1F1F"/>
                          </a:solidFill>
                          <a:effectLst/>
                        </a:rPr>
                        <a:t>3. İletim</a:t>
                      </a:r>
                      <a:endParaRPr lang="tr-T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8346" marR="68346" marT="91127" marB="91127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300" b="1">
                          <a:solidFill>
                            <a:srgbClr val="1F1F1F"/>
                          </a:solidFill>
                          <a:effectLst/>
                        </a:rPr>
                        <a:t>Port A</a:t>
                      </a:r>
                      <a:endParaRPr lang="tr-T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8346" marR="68346" marT="91127" marB="91127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300">
                          <a:solidFill>
                            <a:srgbClr val="1F1F1F"/>
                          </a:solidFill>
                          <a:effectLst/>
                        </a:rPr>
                        <a:t>Elektrik sinyalini içeriye alır.</a:t>
                      </a:r>
                      <a:endParaRPr lang="tr-T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8346" marR="68346" marT="91127" marB="91127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300">
                          <a:solidFill>
                            <a:srgbClr val="1F1F1F"/>
                          </a:solidFill>
                          <a:effectLst/>
                        </a:rPr>
                        <a:t>Analog Giriş Hattı.</a:t>
                      </a:r>
                      <a:endParaRPr lang="tr-T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8346" marR="68346" marT="91127" marB="91127" anchor="ctr"/>
                </a:tc>
                <a:extLst>
                  <a:ext uri="{0D108BD9-81ED-4DB2-BD59-A6C34878D82A}">
                    <a16:rowId xmlns:a16="http://schemas.microsoft.com/office/drawing/2014/main" val="3788567220"/>
                  </a:ext>
                </a:extLst>
              </a:tr>
              <a:tr h="79736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300" b="1">
                          <a:solidFill>
                            <a:srgbClr val="1F1F1F"/>
                          </a:solidFill>
                          <a:effectLst/>
                        </a:rPr>
                        <a:t>4. Dönüşüm</a:t>
                      </a:r>
                      <a:endParaRPr lang="tr-T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8346" marR="68346" marT="91127" marB="91127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300" b="1">
                          <a:solidFill>
                            <a:srgbClr val="1F1F1F"/>
                          </a:solidFill>
                          <a:effectLst/>
                        </a:rPr>
                        <a:t>ADC</a:t>
                      </a:r>
                      <a:endParaRPr lang="tr-T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8346" marR="68346" marT="91127" marB="91127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300">
                          <a:solidFill>
                            <a:srgbClr val="1F1F1F"/>
                          </a:solidFill>
                          <a:effectLst/>
                        </a:rPr>
                        <a:t>Voltajı sayısal koda çevirir.</a:t>
                      </a:r>
                      <a:endParaRPr lang="tr-T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8346" marR="68346" marT="91127" marB="91127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300">
                          <a:solidFill>
                            <a:srgbClr val="1F1F1F"/>
                          </a:solidFill>
                          <a:effectLst/>
                        </a:rPr>
                        <a:t>Örnekleme ve Kuantalama (0-1023 arası sayı).</a:t>
                      </a:r>
                      <a:endParaRPr lang="tr-T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8346" marR="68346" marT="91127" marB="91127" anchor="ctr"/>
                </a:tc>
                <a:extLst>
                  <a:ext uri="{0D108BD9-81ED-4DB2-BD59-A6C34878D82A}">
                    <a16:rowId xmlns:a16="http://schemas.microsoft.com/office/drawing/2014/main" val="2916678999"/>
                  </a:ext>
                </a:extLst>
              </a:tr>
              <a:tr h="59232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300" b="1">
                          <a:solidFill>
                            <a:srgbClr val="1F1F1F"/>
                          </a:solidFill>
                          <a:effectLst/>
                        </a:rPr>
                        <a:t>5. Karar</a:t>
                      </a:r>
                      <a:endParaRPr lang="tr-T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8346" marR="68346" marT="91127" marB="91127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300" b="1">
                          <a:solidFill>
                            <a:srgbClr val="1F1F1F"/>
                          </a:solidFill>
                          <a:effectLst/>
                        </a:rPr>
                        <a:t>CPU / Kod</a:t>
                      </a:r>
                      <a:endParaRPr lang="tr-T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8346" marR="68346" marT="91127" marB="91127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1300">
                          <a:solidFill>
                            <a:srgbClr val="1F1F1F"/>
                          </a:solidFill>
                          <a:effectLst/>
                        </a:rPr>
                        <a:t>Sayıyı yorumlar ve emir verir.</a:t>
                      </a:r>
                      <a:endParaRPr lang="es-ES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8346" marR="68346" marT="91127" marB="91127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300">
                          <a:solidFill>
                            <a:srgbClr val="444746"/>
                          </a:solidFill>
                          <a:effectLst/>
                        </a:rPr>
                        <a:t>if (sicaklik &gt; 500) { ... }</a:t>
                      </a:r>
                      <a:endParaRPr lang="tr-T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8346" marR="68346" marT="91127" marB="91127" anchor="ctr"/>
                </a:tc>
                <a:extLst>
                  <a:ext uri="{0D108BD9-81ED-4DB2-BD59-A6C34878D82A}">
                    <a16:rowId xmlns:a16="http://schemas.microsoft.com/office/drawing/2014/main" val="11740049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0196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527ED-8A14-F1B4-CC32-3BC06674B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EFAA3A7-6505-D31F-A3BA-64521086E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PIC 16F877A</a:t>
            </a:r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3E8E3681-CF9A-A9FA-F215-4E45C1014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tr-TR"/>
              <a:t>Adıyaman Üniversitesi Uzaktan Eğitim Uygulama ve Araştırma Merkezi</a:t>
            </a:r>
            <a:endParaRPr lang="tr-TR" dirty="0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C8A5B361-7A6A-A06A-C964-E5BC1516A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0A2A-BC36-407E-86B9-E24EEBA61DF3}" type="slidenum">
              <a:rPr lang="tr-TR" smtClean="0"/>
              <a:pPr/>
              <a:t>13</a:t>
            </a:fld>
            <a:endParaRPr lang="tr-TR" dirty="0"/>
          </a:p>
        </p:txBody>
      </p:sp>
      <p:pic>
        <p:nvPicPr>
          <p:cNvPr id="17" name="Resim 16">
            <a:extLst>
              <a:ext uri="{FF2B5EF4-FFF2-40B4-BE49-F238E27FC236}">
                <a16:creationId xmlns:a16="http://schemas.microsoft.com/office/drawing/2014/main" id="{6A42F28E-8C73-B6DD-1169-D823126A8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256" y="1527603"/>
            <a:ext cx="1600423" cy="435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054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7EAA2-CA51-660B-2724-5B32A2225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70C5E5A-19A2-05D0-ED79-8B5A6A503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PIC 16F877A</a:t>
            </a:r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4DC3DD3A-839A-8687-137C-4D37A42BF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tr-TR"/>
              <a:t>Adıyaman Üniversitesi Uzaktan Eğitim Uygulama ve Araştırma Merkezi</a:t>
            </a:r>
            <a:endParaRPr lang="tr-TR" dirty="0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FCBEFDCD-954D-2508-D837-F51081111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0A2A-BC36-407E-86B9-E24EEBA61DF3}" type="slidenum">
              <a:rPr lang="tr-TR" smtClean="0"/>
              <a:pPr/>
              <a:t>14</a:t>
            </a:fld>
            <a:endParaRPr lang="tr-TR" dirty="0"/>
          </a:p>
        </p:txBody>
      </p:sp>
      <p:pic>
        <p:nvPicPr>
          <p:cNvPr id="11" name="Resim 10">
            <a:extLst>
              <a:ext uri="{FF2B5EF4-FFF2-40B4-BE49-F238E27FC236}">
                <a16:creationId xmlns:a16="http://schemas.microsoft.com/office/drawing/2014/main" id="{CE602043-D48F-A7B5-B2CA-34A53F5F1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6036" y="1586068"/>
            <a:ext cx="3092518" cy="4516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777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BACC3-4E91-DE9C-DDD0-CE415AAB5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6919D15-12CA-DFD0-B0BC-780054EFD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PIC 16F877A</a:t>
            </a:r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33806C2B-E63C-E4BE-D541-F2CF39435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tr-TR"/>
              <a:t>Adıyaman Üniversitesi Uzaktan Eğitim Uygulama ve Araştırma Merkezi</a:t>
            </a:r>
            <a:endParaRPr lang="tr-TR" dirty="0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C89FACCB-A6C1-2E5B-2FE3-D56391C55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0A2A-BC36-407E-86B9-E24EEBA61DF3}" type="slidenum">
              <a:rPr lang="tr-TR" smtClean="0"/>
              <a:pPr/>
              <a:t>15</a:t>
            </a:fld>
            <a:endParaRPr lang="tr-TR" dirty="0"/>
          </a:p>
        </p:txBody>
      </p:sp>
      <p:pic>
        <p:nvPicPr>
          <p:cNvPr id="15" name="Resim 14">
            <a:extLst>
              <a:ext uri="{FF2B5EF4-FFF2-40B4-BE49-F238E27FC236}">
                <a16:creationId xmlns:a16="http://schemas.microsoft.com/office/drawing/2014/main" id="{8E048E3F-1909-7B5C-2F69-5828A5A173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80"/>
          <a:stretch>
            <a:fillRect/>
          </a:stretch>
        </p:blipFill>
        <p:spPr>
          <a:xfrm>
            <a:off x="3825551" y="1567407"/>
            <a:ext cx="5262465" cy="4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9803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2D1B6-E48E-0D05-0D60-09C3C1B46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8F99E89-8F94-73D6-0E44-B256ADB94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PIC 16F877A</a:t>
            </a:r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B6D98194-A5A7-A1D8-0830-755A151C4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tr-TR"/>
              <a:t>Adıyaman Üniversitesi Uzaktan Eğitim Uygulama ve Araştırma Merkezi</a:t>
            </a:r>
            <a:endParaRPr lang="tr-TR" dirty="0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2939B636-85C0-CFC0-F63C-6D7A0D1E5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0A2A-BC36-407E-86B9-E24EEBA61DF3}" type="slidenum">
              <a:rPr lang="tr-TR" smtClean="0"/>
              <a:pPr/>
              <a:t>16</a:t>
            </a:fld>
            <a:endParaRPr lang="tr-TR" dirty="0"/>
          </a:p>
        </p:txBody>
      </p:sp>
      <p:pic>
        <p:nvPicPr>
          <p:cNvPr id="11" name="Resim 10">
            <a:extLst>
              <a:ext uri="{FF2B5EF4-FFF2-40B4-BE49-F238E27FC236}">
                <a16:creationId xmlns:a16="http://schemas.microsoft.com/office/drawing/2014/main" id="{0B2AA417-2F41-28FC-519D-CFB557214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922" y="1567407"/>
            <a:ext cx="3092518" cy="4516152"/>
          </a:xfrm>
          <a:prstGeom prst="rect">
            <a:avLst/>
          </a:prstGeom>
        </p:spPr>
      </p:pic>
      <p:pic>
        <p:nvPicPr>
          <p:cNvPr id="15" name="Resim 14">
            <a:extLst>
              <a:ext uri="{FF2B5EF4-FFF2-40B4-BE49-F238E27FC236}">
                <a16:creationId xmlns:a16="http://schemas.microsoft.com/office/drawing/2014/main" id="{ADA058BD-2D04-8F4D-F03D-B09115D271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80"/>
          <a:stretch>
            <a:fillRect/>
          </a:stretch>
        </p:blipFill>
        <p:spPr>
          <a:xfrm>
            <a:off x="3825551" y="1567407"/>
            <a:ext cx="5262465" cy="4438525"/>
          </a:xfrm>
          <a:prstGeom prst="rect">
            <a:avLst/>
          </a:prstGeom>
        </p:spPr>
      </p:pic>
      <p:pic>
        <p:nvPicPr>
          <p:cNvPr id="17" name="Resim 16">
            <a:extLst>
              <a:ext uri="{FF2B5EF4-FFF2-40B4-BE49-F238E27FC236}">
                <a16:creationId xmlns:a16="http://schemas.microsoft.com/office/drawing/2014/main" id="{8461D641-4F14-9A82-BBA1-B00348C0C0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9289" y="1649134"/>
            <a:ext cx="1600423" cy="4352697"/>
          </a:xfrm>
          <a:prstGeom prst="rect">
            <a:avLst/>
          </a:prstGeom>
        </p:spPr>
      </p:pic>
      <p:sp>
        <p:nvSpPr>
          <p:cNvPr id="18" name="Metin kutusu 17">
            <a:extLst>
              <a:ext uri="{FF2B5EF4-FFF2-40B4-BE49-F238E27FC236}">
                <a16:creationId xmlns:a16="http://schemas.microsoft.com/office/drawing/2014/main" id="{9D75D026-B425-DD62-BA63-5BCBCD46D0C5}"/>
              </a:ext>
            </a:extLst>
          </p:cNvPr>
          <p:cNvSpPr txBox="1"/>
          <p:nvPr/>
        </p:nvSpPr>
        <p:spPr>
          <a:xfrm>
            <a:off x="1696607" y="6001831"/>
            <a:ext cx="1066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/>
              <a:t>Örnek 1</a:t>
            </a:r>
          </a:p>
        </p:txBody>
      </p:sp>
      <p:sp>
        <p:nvSpPr>
          <p:cNvPr id="19" name="Metin kutusu 18">
            <a:extLst>
              <a:ext uri="{FF2B5EF4-FFF2-40B4-BE49-F238E27FC236}">
                <a16:creationId xmlns:a16="http://schemas.microsoft.com/office/drawing/2014/main" id="{01FB498A-3E44-50B6-665C-60BF3EDE5CAF}"/>
              </a:ext>
            </a:extLst>
          </p:cNvPr>
          <p:cNvSpPr txBox="1"/>
          <p:nvPr/>
        </p:nvSpPr>
        <p:spPr>
          <a:xfrm>
            <a:off x="6096000" y="5960350"/>
            <a:ext cx="1066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/>
              <a:t>Örnek 2</a:t>
            </a:r>
          </a:p>
        </p:txBody>
      </p:sp>
      <p:sp>
        <p:nvSpPr>
          <p:cNvPr id="20" name="Metin kutusu 19">
            <a:extLst>
              <a:ext uri="{FF2B5EF4-FFF2-40B4-BE49-F238E27FC236}">
                <a16:creationId xmlns:a16="http://schemas.microsoft.com/office/drawing/2014/main" id="{79E752B0-D9DE-7E29-A946-5B80663618FB}"/>
              </a:ext>
            </a:extLst>
          </p:cNvPr>
          <p:cNvSpPr txBox="1"/>
          <p:nvPr/>
        </p:nvSpPr>
        <p:spPr>
          <a:xfrm>
            <a:off x="9716341" y="5997730"/>
            <a:ext cx="1066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/>
              <a:t>Örnek 3</a:t>
            </a:r>
          </a:p>
        </p:txBody>
      </p:sp>
    </p:spTree>
    <p:extLst>
      <p:ext uri="{BB962C8B-B14F-4D97-AF65-F5344CB8AC3E}">
        <p14:creationId xmlns:p14="http://schemas.microsoft.com/office/powerpoint/2010/main" val="23825855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D1376-B5D5-366F-CA1B-81B15B6A4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A824E66-4501-0A8B-8549-4D3C8C55F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PIC 16F877A</a:t>
            </a:r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CF9BDC65-A28E-C735-6C1B-F7D99C57F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tr-TR"/>
              <a:t>Adıyaman Üniversitesi Uzaktan Eğitim Uygulama ve Araştırma Merkezi</a:t>
            </a:r>
            <a:endParaRPr lang="tr-TR" dirty="0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2DCA5757-F33C-D97F-3E3D-18C9A0F4C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0A2A-BC36-407E-86B9-E24EEBA61DF3}" type="slidenum">
              <a:rPr lang="tr-TR" smtClean="0"/>
              <a:pPr/>
              <a:t>17</a:t>
            </a:fld>
            <a:endParaRPr lang="tr-TR" dirty="0"/>
          </a:p>
        </p:txBody>
      </p:sp>
      <p:pic>
        <p:nvPicPr>
          <p:cNvPr id="11" name="Resim 10">
            <a:extLst>
              <a:ext uri="{FF2B5EF4-FFF2-40B4-BE49-F238E27FC236}">
                <a16:creationId xmlns:a16="http://schemas.microsoft.com/office/drawing/2014/main" id="{FC0B018A-A872-0211-5C80-586E267B3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800" y="1576994"/>
            <a:ext cx="3092518" cy="4516152"/>
          </a:xfrm>
          <a:prstGeom prst="rect">
            <a:avLst/>
          </a:prstGeom>
        </p:spPr>
      </p:pic>
      <p:sp>
        <p:nvSpPr>
          <p:cNvPr id="3" name="Dikdörtgen: Köşeleri Yuvarlatılmış 2">
            <a:extLst>
              <a:ext uri="{FF2B5EF4-FFF2-40B4-BE49-F238E27FC236}">
                <a16:creationId xmlns:a16="http://schemas.microsoft.com/office/drawing/2014/main" id="{C6FE6A4D-8334-6A0B-FF24-59A8820F82A8}"/>
              </a:ext>
            </a:extLst>
          </p:cNvPr>
          <p:cNvSpPr/>
          <p:nvPr/>
        </p:nvSpPr>
        <p:spPr>
          <a:xfrm>
            <a:off x="1799244" y="2127500"/>
            <a:ext cx="3659164" cy="1138213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>
                <a:solidFill>
                  <a:schemeClr val="accent1"/>
                </a:solidFill>
              </a:rPr>
              <a:t>Port A</a:t>
            </a:r>
          </a:p>
        </p:txBody>
      </p:sp>
      <p:sp>
        <p:nvSpPr>
          <p:cNvPr id="6" name="Dikdörtgen: Köşeleri Yuvarlatılmış 5">
            <a:extLst>
              <a:ext uri="{FF2B5EF4-FFF2-40B4-BE49-F238E27FC236}">
                <a16:creationId xmlns:a16="http://schemas.microsoft.com/office/drawing/2014/main" id="{D7BA196E-2C06-97E2-2208-83056CF05715}"/>
              </a:ext>
            </a:extLst>
          </p:cNvPr>
          <p:cNvSpPr/>
          <p:nvPr/>
        </p:nvSpPr>
        <p:spPr>
          <a:xfrm>
            <a:off x="1799244" y="3297526"/>
            <a:ext cx="3659164" cy="556018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>
                <a:solidFill>
                  <a:schemeClr val="bg2">
                    <a:lumMod val="50000"/>
                  </a:schemeClr>
                </a:solidFill>
              </a:rPr>
              <a:t>Port E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CD89F769-5206-ABA4-D3E2-97972161E51F}"/>
              </a:ext>
            </a:extLst>
          </p:cNvPr>
          <p:cNvSpPr txBox="1"/>
          <p:nvPr/>
        </p:nvSpPr>
        <p:spPr>
          <a:xfrm>
            <a:off x="3314515" y="3885357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/>
              <a:t>Güç</a:t>
            </a:r>
          </a:p>
        </p:txBody>
      </p:sp>
      <p:sp>
        <p:nvSpPr>
          <p:cNvPr id="8" name="Dikdörtgen: Köşeleri Yuvarlatılmış 7">
            <a:extLst>
              <a:ext uri="{FF2B5EF4-FFF2-40B4-BE49-F238E27FC236}">
                <a16:creationId xmlns:a16="http://schemas.microsoft.com/office/drawing/2014/main" id="{A42940F0-E293-6C58-8DD5-2D9B3354F1CA}"/>
              </a:ext>
            </a:extLst>
          </p:cNvPr>
          <p:cNvSpPr/>
          <p:nvPr/>
        </p:nvSpPr>
        <p:spPr>
          <a:xfrm>
            <a:off x="5899382" y="1897345"/>
            <a:ext cx="3659164" cy="153165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>
                <a:solidFill>
                  <a:srgbClr val="FF0000"/>
                </a:solidFill>
              </a:rPr>
              <a:t>Port B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30495A9E-B48D-F15B-0E00-461585923C4A}"/>
              </a:ext>
            </a:extLst>
          </p:cNvPr>
          <p:cNvSpPr txBox="1"/>
          <p:nvPr/>
        </p:nvSpPr>
        <p:spPr>
          <a:xfrm>
            <a:off x="7342078" y="3493357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/>
              <a:t>Güç</a:t>
            </a:r>
          </a:p>
        </p:txBody>
      </p:sp>
      <p:sp>
        <p:nvSpPr>
          <p:cNvPr id="10" name="Dikdörtgen: Köşeleri Yuvarlatılmış 9">
            <a:extLst>
              <a:ext uri="{FF2B5EF4-FFF2-40B4-BE49-F238E27FC236}">
                <a16:creationId xmlns:a16="http://schemas.microsoft.com/office/drawing/2014/main" id="{90791C68-CCD1-1907-34EA-DC1050FFDD6A}"/>
              </a:ext>
            </a:extLst>
          </p:cNvPr>
          <p:cNvSpPr/>
          <p:nvPr/>
        </p:nvSpPr>
        <p:spPr>
          <a:xfrm>
            <a:off x="5893038" y="3927046"/>
            <a:ext cx="3659164" cy="701906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>
                <a:solidFill>
                  <a:schemeClr val="accent2"/>
                </a:solidFill>
              </a:rPr>
              <a:t>Port D</a:t>
            </a:r>
          </a:p>
        </p:txBody>
      </p:sp>
      <p:sp>
        <p:nvSpPr>
          <p:cNvPr id="12" name="Dikdörtgen: Köşeleri Yuvarlatılmış 11">
            <a:extLst>
              <a:ext uri="{FF2B5EF4-FFF2-40B4-BE49-F238E27FC236}">
                <a16:creationId xmlns:a16="http://schemas.microsoft.com/office/drawing/2014/main" id="{0F319B09-18B7-7098-3E33-788515947B8D}"/>
              </a:ext>
            </a:extLst>
          </p:cNvPr>
          <p:cNvSpPr/>
          <p:nvPr/>
        </p:nvSpPr>
        <p:spPr>
          <a:xfrm>
            <a:off x="5893038" y="4720928"/>
            <a:ext cx="3659164" cy="701906"/>
          </a:xfrm>
          <a:prstGeom prst="roundRect">
            <a:avLst/>
          </a:pr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>
                <a:solidFill>
                  <a:schemeClr val="accent3"/>
                </a:solidFill>
              </a:rPr>
              <a:t>Port C</a:t>
            </a:r>
          </a:p>
        </p:txBody>
      </p:sp>
      <p:sp>
        <p:nvSpPr>
          <p:cNvPr id="13" name="Dikdörtgen: Köşeleri Yuvarlatılmış 12">
            <a:extLst>
              <a:ext uri="{FF2B5EF4-FFF2-40B4-BE49-F238E27FC236}">
                <a16:creationId xmlns:a16="http://schemas.microsoft.com/office/drawing/2014/main" id="{4C61B728-F979-E98C-8D51-C63BF1657FF2}"/>
              </a:ext>
            </a:extLst>
          </p:cNvPr>
          <p:cNvSpPr/>
          <p:nvPr/>
        </p:nvSpPr>
        <p:spPr>
          <a:xfrm>
            <a:off x="1784526" y="4720928"/>
            <a:ext cx="3659164" cy="701906"/>
          </a:xfrm>
          <a:prstGeom prst="roundRect">
            <a:avLst/>
          </a:pr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>
                <a:solidFill>
                  <a:schemeClr val="accent3"/>
                </a:solidFill>
              </a:rPr>
              <a:t>Port C</a:t>
            </a:r>
          </a:p>
        </p:txBody>
      </p:sp>
      <p:sp>
        <p:nvSpPr>
          <p:cNvPr id="14" name="Dikdörtgen: Köşeleri Yuvarlatılmış 13">
            <a:extLst>
              <a:ext uri="{FF2B5EF4-FFF2-40B4-BE49-F238E27FC236}">
                <a16:creationId xmlns:a16="http://schemas.microsoft.com/office/drawing/2014/main" id="{97939FE9-EB98-CCB6-4BE1-5C9FC33AB6CD}"/>
              </a:ext>
            </a:extLst>
          </p:cNvPr>
          <p:cNvSpPr/>
          <p:nvPr/>
        </p:nvSpPr>
        <p:spPr>
          <a:xfrm>
            <a:off x="3991303" y="5496336"/>
            <a:ext cx="3659164" cy="789386"/>
          </a:xfrm>
          <a:prstGeom prst="round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chemeClr val="bg1">
                  <a:lumMod val="65000"/>
                </a:schemeClr>
              </a:solidFill>
            </a:endParaRPr>
          </a:p>
          <a:p>
            <a:pPr algn="ctr"/>
            <a:endParaRPr lang="tr-TR">
              <a:solidFill>
                <a:schemeClr val="bg1">
                  <a:lumMod val="65000"/>
                </a:schemeClr>
              </a:solidFill>
            </a:endParaRPr>
          </a:p>
          <a:p>
            <a:pPr algn="ctr"/>
            <a:r>
              <a:rPr lang="tr-TR" b="1">
                <a:solidFill>
                  <a:schemeClr val="bg1">
                    <a:lumMod val="65000"/>
                  </a:schemeClr>
                </a:solidFill>
              </a:rPr>
              <a:t>Port D</a:t>
            </a:r>
          </a:p>
        </p:txBody>
      </p:sp>
      <p:sp>
        <p:nvSpPr>
          <p:cNvPr id="16" name="Dikdörtgen: Köşeleri Yuvarlatılmış 15">
            <a:extLst>
              <a:ext uri="{FF2B5EF4-FFF2-40B4-BE49-F238E27FC236}">
                <a16:creationId xmlns:a16="http://schemas.microsoft.com/office/drawing/2014/main" id="{E5A926AE-6ABE-FB7A-42F5-82423077F2A4}"/>
              </a:ext>
            </a:extLst>
          </p:cNvPr>
          <p:cNvSpPr/>
          <p:nvPr/>
        </p:nvSpPr>
        <p:spPr>
          <a:xfrm>
            <a:off x="1799244" y="4307346"/>
            <a:ext cx="3659164" cy="360924"/>
          </a:xfrm>
          <a:prstGeom prst="round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>
                <a:solidFill>
                  <a:srgbClr val="7030A0"/>
                </a:solidFill>
              </a:rPr>
              <a:t>Osilatör</a:t>
            </a:r>
          </a:p>
        </p:txBody>
      </p:sp>
      <p:sp>
        <p:nvSpPr>
          <p:cNvPr id="21" name="Metin kutusu 20">
            <a:extLst>
              <a:ext uri="{FF2B5EF4-FFF2-40B4-BE49-F238E27FC236}">
                <a16:creationId xmlns:a16="http://schemas.microsoft.com/office/drawing/2014/main" id="{7F1A7041-C128-D565-A02B-6A0FDE9D01D8}"/>
              </a:ext>
            </a:extLst>
          </p:cNvPr>
          <p:cNvSpPr txBox="1"/>
          <p:nvPr/>
        </p:nvSpPr>
        <p:spPr>
          <a:xfrm>
            <a:off x="3207114" y="1758168"/>
            <a:ext cx="784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/>
              <a:t>Reset</a:t>
            </a:r>
          </a:p>
        </p:txBody>
      </p:sp>
    </p:spTree>
    <p:extLst>
      <p:ext uri="{BB962C8B-B14F-4D97-AF65-F5344CB8AC3E}">
        <p14:creationId xmlns:p14="http://schemas.microsoft.com/office/powerpoint/2010/main" val="17095045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D17FCD0-0BBD-76A4-9471-D953DA1A1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Güç ve Kontrol Hatları</a:t>
            </a:r>
          </a:p>
        </p:txBody>
      </p:sp>
      <p:pic>
        <p:nvPicPr>
          <p:cNvPr id="7" name="İçerik Yer Tutucusu 6">
            <a:extLst>
              <a:ext uri="{FF2B5EF4-FFF2-40B4-BE49-F238E27FC236}">
                <a16:creationId xmlns:a16="http://schemas.microsoft.com/office/drawing/2014/main" id="{3E4F8545-14F1-DB69-A611-2AD9FD3984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06073" y="1384418"/>
            <a:ext cx="5585927" cy="4732337"/>
          </a:xfrm>
          <a:prstGeom prst="rect">
            <a:avLst/>
          </a:prstGeom>
        </p:spPr>
      </p:pic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8D1273DB-28E8-8B99-04CF-FBB64C7B9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tr-TR"/>
              <a:t>Adıyaman Üniversitesi Uzaktan Eğitim Uygulama ve Araştırma Merkezi</a:t>
            </a:r>
            <a:endParaRPr lang="tr-TR" dirty="0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499EDBF5-EC94-3B01-70FF-E1CD044D1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0A2A-BC36-407E-86B9-E24EEBA61DF3}" type="slidenum">
              <a:rPr lang="tr-TR" smtClean="0"/>
              <a:pPr/>
              <a:t>18</a:t>
            </a:fld>
            <a:endParaRPr lang="tr-TR" dirty="0"/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5AA37411-C88E-7E28-6555-21B8798D1F88}"/>
              </a:ext>
            </a:extLst>
          </p:cNvPr>
          <p:cNvSpPr txBox="1"/>
          <p:nvPr/>
        </p:nvSpPr>
        <p:spPr>
          <a:xfrm>
            <a:off x="266699" y="1840268"/>
            <a:ext cx="582930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tr-TR" b="1"/>
          </a:p>
          <a:p>
            <a:r>
              <a:rPr lang="tr-TR" b="1"/>
              <a:t>Güç (Vdd &amp; Vss):</a:t>
            </a:r>
            <a:r>
              <a:rPr lang="tr-TR"/>
              <a:t> İşlemcinin çalışması için gereken enerjiyi sağlar. Genellikle </a:t>
            </a:r>
            <a:r>
              <a:rPr lang="tr-TR" b="1"/>
              <a:t>11-12</a:t>
            </a:r>
            <a:r>
              <a:rPr lang="tr-TR"/>
              <a:t> ve </a:t>
            </a:r>
            <a:r>
              <a:rPr lang="tr-TR" b="1"/>
              <a:t>31-32</a:t>
            </a:r>
            <a:r>
              <a:rPr lang="tr-TR"/>
              <a:t> numaralı pinlerde çiftler halindedir. </a:t>
            </a:r>
            <a:r>
              <a:rPr lang="tr-TR" b="1"/>
              <a:t>Vdd</a:t>
            </a:r>
            <a:r>
              <a:rPr lang="tr-TR"/>
              <a:t> (+5V), </a:t>
            </a:r>
            <a:r>
              <a:rPr lang="tr-TR" b="1"/>
              <a:t>Vss</a:t>
            </a:r>
            <a:r>
              <a:rPr lang="tr-TR"/>
              <a:t> ise toprak (GND) hattıdır.</a:t>
            </a:r>
          </a:p>
          <a:p>
            <a:endParaRPr lang="tr-TR" b="1"/>
          </a:p>
          <a:p>
            <a:r>
              <a:rPr lang="tr-TR" b="1"/>
              <a:t>Reset (MCLR):</a:t>
            </a:r>
            <a:r>
              <a:rPr lang="tr-TR"/>
              <a:t> 1 numaralı pindir. İşlemci kilitlendiğinde veya yeniden başlatılmak istendiğinde kullanılır.</a:t>
            </a:r>
          </a:p>
          <a:p>
            <a:endParaRPr lang="tr-TR" b="1"/>
          </a:p>
          <a:p>
            <a:r>
              <a:rPr lang="tr-TR" b="1"/>
              <a:t>Osilatör (CLKIN &amp; CLKOUT):</a:t>
            </a:r>
            <a:r>
              <a:rPr lang="tr-TR"/>
              <a:t> 13 ve 14 numaralı pinlerdir. İşlemcinin çalışma hızını belirleyen dış kristal buraya bağlanır.</a:t>
            </a:r>
          </a:p>
          <a:p>
            <a:endParaRPr lang="tr-TR"/>
          </a:p>
        </p:txBody>
      </p:sp>
      <p:cxnSp>
        <p:nvCxnSpPr>
          <p:cNvPr id="10" name="Düz Ok Bağlayıcısı 9">
            <a:extLst>
              <a:ext uri="{FF2B5EF4-FFF2-40B4-BE49-F238E27FC236}">
                <a16:creationId xmlns:a16="http://schemas.microsoft.com/office/drawing/2014/main" id="{DC55ADE8-4A6B-206B-5F2B-8B769BCCA615}"/>
              </a:ext>
            </a:extLst>
          </p:cNvPr>
          <p:cNvCxnSpPr>
            <a:cxnSpLocks/>
          </p:cNvCxnSpPr>
          <p:nvPr/>
        </p:nvCxnSpPr>
        <p:spPr>
          <a:xfrm>
            <a:off x="6096000" y="2649894"/>
            <a:ext cx="1741714" cy="12057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Düz Ok Bağlayıcısı 11">
            <a:extLst>
              <a:ext uri="{FF2B5EF4-FFF2-40B4-BE49-F238E27FC236}">
                <a16:creationId xmlns:a16="http://schemas.microsoft.com/office/drawing/2014/main" id="{480767EB-9C26-FE5C-5665-524359B15396}"/>
              </a:ext>
            </a:extLst>
          </p:cNvPr>
          <p:cNvCxnSpPr>
            <a:cxnSpLocks/>
          </p:cNvCxnSpPr>
          <p:nvPr/>
        </p:nvCxnSpPr>
        <p:spPr>
          <a:xfrm>
            <a:off x="6096000" y="2649894"/>
            <a:ext cx="3598506" cy="8864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Düz Ok Bağlayıcısı 13">
            <a:extLst>
              <a:ext uri="{FF2B5EF4-FFF2-40B4-BE49-F238E27FC236}">
                <a16:creationId xmlns:a16="http://schemas.microsoft.com/office/drawing/2014/main" id="{BFA9EF12-4D92-B503-1775-051783BFCAA5}"/>
              </a:ext>
            </a:extLst>
          </p:cNvPr>
          <p:cNvCxnSpPr>
            <a:cxnSpLocks/>
          </p:cNvCxnSpPr>
          <p:nvPr/>
        </p:nvCxnSpPr>
        <p:spPr>
          <a:xfrm flipV="1">
            <a:off x="4935894" y="1931437"/>
            <a:ext cx="2789853" cy="19241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Düz Ok Bağlayıcısı 16">
            <a:extLst>
              <a:ext uri="{FF2B5EF4-FFF2-40B4-BE49-F238E27FC236}">
                <a16:creationId xmlns:a16="http://schemas.microsoft.com/office/drawing/2014/main" id="{91125641-20EE-B978-18DC-F67C8D3824D4}"/>
              </a:ext>
            </a:extLst>
          </p:cNvPr>
          <p:cNvCxnSpPr>
            <a:cxnSpLocks/>
          </p:cNvCxnSpPr>
          <p:nvPr/>
        </p:nvCxnSpPr>
        <p:spPr>
          <a:xfrm flipV="1">
            <a:off x="5477069" y="4278262"/>
            <a:ext cx="2108719" cy="6762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16413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A68A0-4FC4-6EFD-63E4-5636F308E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DC5C92E-BA90-873E-33AD-3B42BB6A0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PORT A</a:t>
            </a:r>
          </a:p>
        </p:txBody>
      </p:sp>
      <p:pic>
        <p:nvPicPr>
          <p:cNvPr id="7" name="İçerik Yer Tutucusu 6">
            <a:extLst>
              <a:ext uri="{FF2B5EF4-FFF2-40B4-BE49-F238E27FC236}">
                <a16:creationId xmlns:a16="http://schemas.microsoft.com/office/drawing/2014/main" id="{F9D0F295-94E6-23AE-8BB5-080373C069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06073" y="1384418"/>
            <a:ext cx="5585927" cy="4732337"/>
          </a:xfrm>
          <a:prstGeom prst="rect">
            <a:avLst/>
          </a:prstGeom>
        </p:spPr>
      </p:pic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58B83D4D-E31F-1D3E-2ABE-CB42A2E1B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tr-TR"/>
              <a:t>Adıyaman Üniversitesi Uzaktan Eğitim Uygulama ve Araştırma Merkezi</a:t>
            </a:r>
            <a:endParaRPr lang="tr-TR" dirty="0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14C787B2-10BB-D567-D2AA-A52FBD7DD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0A2A-BC36-407E-86B9-E24EEBA61DF3}" type="slidenum">
              <a:rPr lang="tr-TR" smtClean="0"/>
              <a:pPr/>
              <a:t>19</a:t>
            </a:fld>
            <a:endParaRPr lang="tr-TR" dirty="0"/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BD38AD69-842B-6703-D19C-CAF1346C963F}"/>
              </a:ext>
            </a:extLst>
          </p:cNvPr>
          <p:cNvSpPr txBox="1"/>
          <p:nvPr/>
        </p:nvSpPr>
        <p:spPr>
          <a:xfrm>
            <a:off x="266699" y="1840268"/>
            <a:ext cx="582930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/>
              <a:t>Genellikle </a:t>
            </a:r>
            <a:r>
              <a:rPr lang="tr-TR" b="1"/>
              <a:t>Analog-Dijital Dönüştürücü </a:t>
            </a:r>
            <a:r>
              <a:rPr lang="tr-TR"/>
              <a:t>(</a:t>
            </a:r>
            <a:r>
              <a:rPr lang="tr-TR" b="1"/>
              <a:t>ADC</a:t>
            </a:r>
            <a:r>
              <a:rPr lang="tr-TR"/>
              <a:t>) birimi için giriş kanalı olarak işlev görür.</a:t>
            </a:r>
          </a:p>
          <a:p>
            <a:endParaRPr lang="tr-T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/>
              <a:t>RA0-RA5 arası pinleri kapsar. Sistemin sensörlerden gelen analog sinyalleri (ısı, ışık, voltaj vb.) dijital veriye dönüştürdüğü ana merkezdir.</a:t>
            </a:r>
          </a:p>
          <a:p>
            <a:endParaRPr lang="tr-TR"/>
          </a:p>
        </p:txBody>
      </p:sp>
      <p:cxnSp>
        <p:nvCxnSpPr>
          <p:cNvPr id="14" name="Düz Ok Bağlayıcısı 13">
            <a:extLst>
              <a:ext uri="{FF2B5EF4-FFF2-40B4-BE49-F238E27FC236}">
                <a16:creationId xmlns:a16="http://schemas.microsoft.com/office/drawing/2014/main" id="{F50AB884-2D1E-5626-8C66-A722C9440DAE}"/>
              </a:ext>
            </a:extLst>
          </p:cNvPr>
          <p:cNvCxnSpPr>
            <a:cxnSpLocks/>
          </p:cNvCxnSpPr>
          <p:nvPr/>
        </p:nvCxnSpPr>
        <p:spPr>
          <a:xfrm flipV="1">
            <a:off x="5551714" y="2519265"/>
            <a:ext cx="2174033" cy="634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Düz Ok Bağlayıcısı 14">
            <a:extLst>
              <a:ext uri="{FF2B5EF4-FFF2-40B4-BE49-F238E27FC236}">
                <a16:creationId xmlns:a16="http://schemas.microsoft.com/office/drawing/2014/main" id="{54B0D6D9-52DE-2ABC-5E11-4FC7BF4A80B9}"/>
              </a:ext>
            </a:extLst>
          </p:cNvPr>
          <p:cNvCxnSpPr/>
          <p:nvPr/>
        </p:nvCxnSpPr>
        <p:spPr>
          <a:xfrm>
            <a:off x="5551714" y="2136710"/>
            <a:ext cx="2174033" cy="2985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56801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ECCE4-15A5-742D-1A77-5B0617CC8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5DAF807-A11A-43A4-38F9-AF46D046F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PORT B</a:t>
            </a:r>
          </a:p>
        </p:txBody>
      </p:sp>
      <p:pic>
        <p:nvPicPr>
          <p:cNvPr id="7" name="İçerik Yer Tutucusu 6">
            <a:extLst>
              <a:ext uri="{FF2B5EF4-FFF2-40B4-BE49-F238E27FC236}">
                <a16:creationId xmlns:a16="http://schemas.microsoft.com/office/drawing/2014/main" id="{6130A282-C6A8-E493-2074-421034A03F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06073" y="1384418"/>
            <a:ext cx="5585927" cy="4732337"/>
          </a:xfrm>
          <a:prstGeom prst="rect">
            <a:avLst/>
          </a:prstGeom>
        </p:spPr>
      </p:pic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319D82EE-0D59-116B-93BC-7860CEF25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tr-TR"/>
              <a:t>Adıyaman Üniversitesi Uzaktan Eğitim Uygulama ve Araştırma Merkezi</a:t>
            </a:r>
            <a:endParaRPr lang="tr-TR" dirty="0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C2BC2336-5892-7EDA-43F0-162B1C8BF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0A2A-BC36-407E-86B9-E24EEBA61DF3}" type="slidenum">
              <a:rPr lang="tr-TR" smtClean="0"/>
              <a:pPr/>
              <a:t>20</a:t>
            </a:fld>
            <a:endParaRPr lang="tr-TR" dirty="0"/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05A322C8-35EB-413A-D840-CA56E3832AFA}"/>
              </a:ext>
            </a:extLst>
          </p:cNvPr>
          <p:cNvSpPr txBox="1"/>
          <p:nvPr/>
        </p:nvSpPr>
        <p:spPr>
          <a:xfrm>
            <a:off x="266699" y="1840268"/>
            <a:ext cx="582930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/>
              <a:t>Yüksek öncelikli görevlerin ve programlama süreçlerinin yönetildiği porttur.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b="1"/>
              <a:t>RB0</a:t>
            </a:r>
            <a:r>
              <a:rPr lang="tr-TR"/>
              <a:t> pini </a:t>
            </a:r>
            <a:r>
              <a:rPr lang="tr-TR" b="1"/>
              <a:t>dış kesme </a:t>
            </a:r>
            <a:r>
              <a:rPr lang="tr-TR"/>
              <a:t>(External Interrupt) girişidir; </a:t>
            </a:r>
            <a:r>
              <a:rPr lang="tr-TR" b="1"/>
              <a:t>RB4-RB7</a:t>
            </a:r>
            <a:r>
              <a:rPr lang="tr-TR"/>
              <a:t> arası ise "</a:t>
            </a:r>
            <a:r>
              <a:rPr lang="tr-TR" b="1"/>
              <a:t>kesme durumu değişimi</a:t>
            </a:r>
            <a:r>
              <a:rPr lang="tr-TR"/>
              <a:t>" özelliğine sahiptir.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/>
              <a:t>Mikrodenetleyicinin </a:t>
            </a:r>
            <a:r>
              <a:rPr lang="tr-TR" b="1"/>
              <a:t>Flash ROM belleğine </a:t>
            </a:r>
            <a:r>
              <a:rPr lang="tr-TR"/>
              <a:t>kod yükleme işlemi, RB6 ve RB7 pinleri üzerinden gerçekleştirilir.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/>
              <a:t>Özetle; mikrodenetleyicinin hem dış dünyadan gelen acil sinyallere (kesme) tepki vermesini sağlar hem de cihazın programlanması için ana iletişim yolunu oluşturur.</a:t>
            </a:r>
          </a:p>
        </p:txBody>
      </p:sp>
      <p:cxnSp>
        <p:nvCxnSpPr>
          <p:cNvPr id="14" name="Düz Ok Bağlayıcısı 13">
            <a:extLst>
              <a:ext uri="{FF2B5EF4-FFF2-40B4-BE49-F238E27FC236}">
                <a16:creationId xmlns:a16="http://schemas.microsoft.com/office/drawing/2014/main" id="{1F453D55-8AAC-796B-BD08-5FF7867777B8}"/>
              </a:ext>
            </a:extLst>
          </p:cNvPr>
          <p:cNvCxnSpPr>
            <a:cxnSpLocks/>
          </p:cNvCxnSpPr>
          <p:nvPr/>
        </p:nvCxnSpPr>
        <p:spPr>
          <a:xfrm flipV="1">
            <a:off x="5747657" y="1931437"/>
            <a:ext cx="4012163" cy="21833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Düz Ok Bağlayıcısı 17">
            <a:extLst>
              <a:ext uri="{FF2B5EF4-FFF2-40B4-BE49-F238E27FC236}">
                <a16:creationId xmlns:a16="http://schemas.microsoft.com/office/drawing/2014/main" id="{79F85AB4-8C40-2BB5-078B-C1246CB46B19}"/>
              </a:ext>
            </a:extLst>
          </p:cNvPr>
          <p:cNvCxnSpPr>
            <a:cxnSpLocks/>
          </p:cNvCxnSpPr>
          <p:nvPr/>
        </p:nvCxnSpPr>
        <p:spPr>
          <a:xfrm flipV="1">
            <a:off x="5868955" y="2873829"/>
            <a:ext cx="3685592" cy="24446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Düz Ok Bağlayıcısı 11">
            <a:extLst>
              <a:ext uri="{FF2B5EF4-FFF2-40B4-BE49-F238E27FC236}">
                <a16:creationId xmlns:a16="http://schemas.microsoft.com/office/drawing/2014/main" id="{B026674D-CC50-62CF-E5A8-82461D54338A}"/>
              </a:ext>
            </a:extLst>
          </p:cNvPr>
          <p:cNvCxnSpPr/>
          <p:nvPr/>
        </p:nvCxnSpPr>
        <p:spPr>
          <a:xfrm>
            <a:off x="5635690" y="2052735"/>
            <a:ext cx="3918857" cy="3079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Düz Ok Bağlayıcısı 15">
            <a:extLst>
              <a:ext uri="{FF2B5EF4-FFF2-40B4-BE49-F238E27FC236}">
                <a16:creationId xmlns:a16="http://schemas.microsoft.com/office/drawing/2014/main" id="{5BE18478-CCCC-F740-9479-6BF0B58314B0}"/>
              </a:ext>
            </a:extLst>
          </p:cNvPr>
          <p:cNvCxnSpPr>
            <a:cxnSpLocks/>
          </p:cNvCxnSpPr>
          <p:nvPr/>
        </p:nvCxnSpPr>
        <p:spPr>
          <a:xfrm flipV="1">
            <a:off x="5868955" y="2649894"/>
            <a:ext cx="3713584" cy="2239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81834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FAF09-7FE8-9264-3B86-C109EF99E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0631F52-36AA-D08D-78C4-1AC2E62C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PORT C</a:t>
            </a:r>
          </a:p>
        </p:txBody>
      </p:sp>
      <p:pic>
        <p:nvPicPr>
          <p:cNvPr id="7" name="İçerik Yer Tutucusu 6">
            <a:extLst>
              <a:ext uri="{FF2B5EF4-FFF2-40B4-BE49-F238E27FC236}">
                <a16:creationId xmlns:a16="http://schemas.microsoft.com/office/drawing/2014/main" id="{845AE53A-B232-5713-810B-2BD1EB02F1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06073" y="1384418"/>
            <a:ext cx="5585927" cy="4732337"/>
          </a:xfrm>
          <a:prstGeom prst="rect">
            <a:avLst/>
          </a:prstGeom>
        </p:spPr>
      </p:pic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27772406-1550-FB0C-9C42-AA080C2D2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tr-TR"/>
              <a:t>Adıyaman Üniversitesi Uzaktan Eğitim Uygulama ve Araştırma Merkezi</a:t>
            </a:r>
            <a:endParaRPr lang="tr-TR" dirty="0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B5BC4FFF-264E-7F30-2524-791E00EFD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0A2A-BC36-407E-86B9-E24EEBA61DF3}" type="slidenum">
              <a:rPr lang="tr-TR" smtClean="0"/>
              <a:pPr/>
              <a:t>21</a:t>
            </a:fld>
            <a:endParaRPr lang="tr-TR" dirty="0"/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1DB50EE4-D236-9C65-892B-04F38CBD23DA}"/>
              </a:ext>
            </a:extLst>
          </p:cNvPr>
          <p:cNvSpPr txBox="1"/>
          <p:nvPr/>
        </p:nvSpPr>
        <p:spPr>
          <a:xfrm>
            <a:off x="266699" y="1840268"/>
            <a:ext cx="582930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/>
              <a:t>Denetleyicinin diğer sistemlerle veri alışverişi yaptığı ve zamanlama sinyalleri ürettiği porttur.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/>
              <a:t>Mikrodenetleyici içerisindeki zamanlayıcılara (</a:t>
            </a:r>
            <a:r>
              <a:rPr lang="tr-TR" b="1"/>
              <a:t>timers</a:t>
            </a:r>
            <a:r>
              <a:rPr lang="tr-TR"/>
              <a:t>) erişim imkanı sağlar.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/>
              <a:t>Seri haberleşme portlarına (</a:t>
            </a:r>
            <a:r>
              <a:rPr lang="tr-TR" b="1"/>
              <a:t>serial ports</a:t>
            </a:r>
            <a:r>
              <a:rPr lang="tr-TR"/>
              <a:t>) bu port üzerinden erişilir.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/>
              <a:t>Özetle Port C; sistemin zamanlama fonksiyonlarını yönetmek ve diğer cihazlarla seri iletişim kurmak için kullanılan ana arayüzdür.</a:t>
            </a:r>
          </a:p>
        </p:txBody>
      </p:sp>
      <p:cxnSp>
        <p:nvCxnSpPr>
          <p:cNvPr id="14" name="Düz Ok Bağlayıcısı 13">
            <a:extLst>
              <a:ext uri="{FF2B5EF4-FFF2-40B4-BE49-F238E27FC236}">
                <a16:creationId xmlns:a16="http://schemas.microsoft.com/office/drawing/2014/main" id="{88DC0C86-FFED-8B7B-51BE-4F077019B50B}"/>
              </a:ext>
            </a:extLst>
          </p:cNvPr>
          <p:cNvCxnSpPr>
            <a:cxnSpLocks/>
          </p:cNvCxnSpPr>
          <p:nvPr/>
        </p:nvCxnSpPr>
        <p:spPr>
          <a:xfrm>
            <a:off x="5131837" y="3844212"/>
            <a:ext cx="1651518" cy="10077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Düz Ok Bağlayıcısı 11">
            <a:extLst>
              <a:ext uri="{FF2B5EF4-FFF2-40B4-BE49-F238E27FC236}">
                <a16:creationId xmlns:a16="http://schemas.microsoft.com/office/drawing/2014/main" id="{86C69446-B19A-C134-94FA-46717419E72E}"/>
              </a:ext>
            </a:extLst>
          </p:cNvPr>
          <p:cNvCxnSpPr>
            <a:cxnSpLocks/>
          </p:cNvCxnSpPr>
          <p:nvPr/>
        </p:nvCxnSpPr>
        <p:spPr>
          <a:xfrm>
            <a:off x="5635690" y="2052735"/>
            <a:ext cx="3946849" cy="25006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Düz Ok Bağlayıcısı 15">
            <a:extLst>
              <a:ext uri="{FF2B5EF4-FFF2-40B4-BE49-F238E27FC236}">
                <a16:creationId xmlns:a16="http://schemas.microsoft.com/office/drawing/2014/main" id="{AB147A3B-9CA9-C54F-057E-4E439551063D}"/>
              </a:ext>
            </a:extLst>
          </p:cNvPr>
          <p:cNvCxnSpPr>
            <a:cxnSpLocks/>
          </p:cNvCxnSpPr>
          <p:nvPr/>
        </p:nvCxnSpPr>
        <p:spPr>
          <a:xfrm>
            <a:off x="5710335" y="2855167"/>
            <a:ext cx="1073020" cy="1819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33679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0D26A-564A-1E71-8B4B-5B1719162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682949C-E9DD-496E-A480-D2C8B2A18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PORT D</a:t>
            </a:r>
          </a:p>
        </p:txBody>
      </p:sp>
      <p:pic>
        <p:nvPicPr>
          <p:cNvPr id="7" name="İçerik Yer Tutucusu 6">
            <a:extLst>
              <a:ext uri="{FF2B5EF4-FFF2-40B4-BE49-F238E27FC236}">
                <a16:creationId xmlns:a16="http://schemas.microsoft.com/office/drawing/2014/main" id="{6040834A-C677-7F8C-63A1-D8D23CA9E9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06073" y="1384418"/>
            <a:ext cx="5585927" cy="4732337"/>
          </a:xfrm>
          <a:prstGeom prst="rect">
            <a:avLst/>
          </a:prstGeom>
        </p:spPr>
      </p:pic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92B8B3EA-BAF3-7674-AE53-82733FBD7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tr-TR"/>
              <a:t>Adıyaman Üniversitesi Uzaktan Eğitim Uygulama ve Araştırma Merkezi</a:t>
            </a:r>
            <a:endParaRPr lang="tr-TR" dirty="0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2087226F-5B2D-E761-EC53-BEBA285A2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0A2A-BC36-407E-86B9-E24EEBA61DF3}" type="slidenum">
              <a:rPr lang="tr-TR" smtClean="0"/>
              <a:pPr/>
              <a:t>22</a:t>
            </a:fld>
            <a:endParaRPr lang="tr-TR" dirty="0"/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AAD30D49-DF82-0CE2-8949-57B2992A1E1D}"/>
              </a:ext>
            </a:extLst>
          </p:cNvPr>
          <p:cNvSpPr txBox="1"/>
          <p:nvPr/>
        </p:nvSpPr>
        <p:spPr>
          <a:xfrm>
            <a:off x="266699" y="1840268"/>
            <a:ext cx="582930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/>
              <a:t>Yüksek hızlı paralel </a:t>
            </a:r>
            <a:r>
              <a:rPr lang="tr-TR" b="1"/>
              <a:t>veri aktarımı </a:t>
            </a:r>
            <a:r>
              <a:rPr lang="tr-TR"/>
              <a:t>ve </a:t>
            </a:r>
            <a:r>
              <a:rPr lang="tr-TR" b="1"/>
              <a:t>genel amaçlı I/O </a:t>
            </a:r>
            <a:r>
              <a:rPr lang="tr-TR"/>
              <a:t>işlemlerinde kullanılan tam kapasiteli porttur.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/>
              <a:t>8-bit genişliğinde olduğu için LCD ekranlar ve harici bellek birimleri gibi paralel veri yolu gerektiren çevre birimlerinin kontrolünde verimlilik sağlar.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/>
              <a:t>Mikrodenetleyicinin bir "Slave" (ikincil) birim gibi davranmasını sağlayan Paralel Slave Port özelliğine sahiptir.</a:t>
            </a:r>
          </a:p>
        </p:txBody>
      </p:sp>
      <p:cxnSp>
        <p:nvCxnSpPr>
          <p:cNvPr id="14" name="Düz Ok Bağlayıcısı 13">
            <a:extLst>
              <a:ext uri="{FF2B5EF4-FFF2-40B4-BE49-F238E27FC236}">
                <a16:creationId xmlns:a16="http://schemas.microsoft.com/office/drawing/2014/main" id="{0A0F2FBF-68FD-6B50-10CF-000161C10F30}"/>
              </a:ext>
            </a:extLst>
          </p:cNvPr>
          <p:cNvCxnSpPr>
            <a:cxnSpLocks/>
          </p:cNvCxnSpPr>
          <p:nvPr/>
        </p:nvCxnSpPr>
        <p:spPr>
          <a:xfrm flipV="1">
            <a:off x="5723724" y="4200434"/>
            <a:ext cx="3858815" cy="230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Düz Ok Bağlayıcısı 11">
            <a:extLst>
              <a:ext uri="{FF2B5EF4-FFF2-40B4-BE49-F238E27FC236}">
                <a16:creationId xmlns:a16="http://schemas.microsoft.com/office/drawing/2014/main" id="{1DD60A0F-3655-ED21-BFC2-E8EC47D9B464}"/>
              </a:ext>
            </a:extLst>
          </p:cNvPr>
          <p:cNvCxnSpPr>
            <a:cxnSpLocks/>
          </p:cNvCxnSpPr>
          <p:nvPr/>
        </p:nvCxnSpPr>
        <p:spPr>
          <a:xfrm>
            <a:off x="5952931" y="2211355"/>
            <a:ext cx="3629608" cy="1763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Düz Ok Bağlayıcısı 15">
            <a:extLst>
              <a:ext uri="{FF2B5EF4-FFF2-40B4-BE49-F238E27FC236}">
                <a16:creationId xmlns:a16="http://schemas.microsoft.com/office/drawing/2014/main" id="{9DBD87A8-CD56-3005-6E5E-5A03A816C41E}"/>
              </a:ext>
            </a:extLst>
          </p:cNvPr>
          <p:cNvCxnSpPr>
            <a:cxnSpLocks/>
          </p:cNvCxnSpPr>
          <p:nvPr/>
        </p:nvCxnSpPr>
        <p:spPr>
          <a:xfrm>
            <a:off x="5324668" y="3149081"/>
            <a:ext cx="4257871" cy="9580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51753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34063-4E59-9A76-5620-D24EED0CB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1A482BD-A717-9586-46EF-17EF0D71C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PORT E</a:t>
            </a:r>
          </a:p>
        </p:txBody>
      </p:sp>
      <p:pic>
        <p:nvPicPr>
          <p:cNvPr id="7" name="İçerik Yer Tutucusu 6">
            <a:extLst>
              <a:ext uri="{FF2B5EF4-FFF2-40B4-BE49-F238E27FC236}">
                <a16:creationId xmlns:a16="http://schemas.microsoft.com/office/drawing/2014/main" id="{845115A8-D445-0C57-2956-B3483A5D15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06073" y="1384418"/>
            <a:ext cx="5585927" cy="4732337"/>
          </a:xfrm>
          <a:prstGeom prst="rect">
            <a:avLst/>
          </a:prstGeom>
        </p:spPr>
      </p:pic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8DD43BA8-DB0B-88B6-5E0A-D5FEC1E4B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tr-TR"/>
              <a:t>Adıyaman Üniversitesi Uzaktan Eğitim Uygulama ve Araştırma Merkezi</a:t>
            </a:r>
            <a:endParaRPr lang="tr-TR" dirty="0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19A73FF2-F7E8-C8C0-4237-BD331C355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0A2A-BC36-407E-86B9-E24EEBA61DF3}" type="slidenum">
              <a:rPr lang="tr-TR" smtClean="0"/>
              <a:pPr/>
              <a:t>23</a:t>
            </a:fld>
            <a:endParaRPr lang="tr-TR" dirty="0"/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769B222E-80F0-3691-82EE-69A662DBFFC5}"/>
              </a:ext>
            </a:extLst>
          </p:cNvPr>
          <p:cNvSpPr txBox="1"/>
          <p:nvPr/>
        </p:nvSpPr>
        <p:spPr>
          <a:xfrm>
            <a:off x="266699" y="1840268"/>
            <a:ext cx="582930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/>
              <a:t>Port A'nın analog kapasitesini genişleten ve Port D'nin paralel işlemlerini destekleyen yardımcı birimdir.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/>
              <a:t>RE0, RE1 ve RE2 pinlerinden oluşur. Hem ek </a:t>
            </a:r>
            <a:r>
              <a:rPr lang="tr-TR" b="1"/>
              <a:t>analog</a:t>
            </a:r>
            <a:r>
              <a:rPr lang="tr-TR"/>
              <a:t> giriş (AN5, AN6, AN7) kanalları sağlar hem de PSP(Parallel Slave Port) modunda kontrol sinyallerini (Okuma/Yazma/Seçme) yönetir.</a:t>
            </a:r>
          </a:p>
        </p:txBody>
      </p:sp>
      <p:cxnSp>
        <p:nvCxnSpPr>
          <p:cNvPr id="12" name="Düz Ok Bağlayıcısı 11">
            <a:extLst>
              <a:ext uri="{FF2B5EF4-FFF2-40B4-BE49-F238E27FC236}">
                <a16:creationId xmlns:a16="http://schemas.microsoft.com/office/drawing/2014/main" id="{F299BF0E-5E21-D9E9-5BDB-08C2EFAC2DD2}"/>
              </a:ext>
            </a:extLst>
          </p:cNvPr>
          <p:cNvCxnSpPr>
            <a:cxnSpLocks/>
          </p:cNvCxnSpPr>
          <p:nvPr/>
        </p:nvCxnSpPr>
        <p:spPr>
          <a:xfrm>
            <a:off x="5723724" y="2313992"/>
            <a:ext cx="1059631" cy="9517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Düz Ok Bağlayıcısı 15">
            <a:extLst>
              <a:ext uri="{FF2B5EF4-FFF2-40B4-BE49-F238E27FC236}">
                <a16:creationId xmlns:a16="http://schemas.microsoft.com/office/drawing/2014/main" id="{EC2ECFB6-D9CE-0AAB-CE67-2410F1107687}"/>
              </a:ext>
            </a:extLst>
          </p:cNvPr>
          <p:cNvCxnSpPr>
            <a:cxnSpLocks/>
          </p:cNvCxnSpPr>
          <p:nvPr/>
        </p:nvCxnSpPr>
        <p:spPr>
          <a:xfrm>
            <a:off x="5585928" y="3429000"/>
            <a:ext cx="11974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11282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2BBF7-EC46-08E3-E0EE-90A389FC3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383623B-B751-4561-6060-3AFD2C29F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PIC 16F877A</a:t>
            </a:r>
          </a:p>
        </p:txBody>
      </p:sp>
      <p:pic>
        <p:nvPicPr>
          <p:cNvPr id="7" name="İçerik Yer Tutucusu 6">
            <a:extLst>
              <a:ext uri="{FF2B5EF4-FFF2-40B4-BE49-F238E27FC236}">
                <a16:creationId xmlns:a16="http://schemas.microsoft.com/office/drawing/2014/main" id="{7A02E62C-7449-A47B-9DDA-4D4408E5DE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06073" y="1384418"/>
            <a:ext cx="5585927" cy="4732337"/>
          </a:xfrm>
          <a:prstGeom prst="rect">
            <a:avLst/>
          </a:prstGeom>
        </p:spPr>
      </p:pic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1C809A08-E8D3-7B37-3BC0-D4F305DF8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tr-TR"/>
              <a:t>Adıyaman Üniversitesi Uzaktan Eğitim Uygulama ve Araştırma Merkezi</a:t>
            </a:r>
            <a:endParaRPr lang="tr-TR" dirty="0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EC548C40-1FDB-A831-95D2-B52A66C64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0A2A-BC36-407E-86B9-E24EEBA61DF3}" type="slidenum">
              <a:rPr lang="tr-TR" smtClean="0"/>
              <a:pPr/>
              <a:t>24</a:t>
            </a:fld>
            <a:endParaRPr lang="tr-TR" dirty="0"/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9C23F9DC-B8A2-5704-2D6C-C0AC2725C680}"/>
              </a:ext>
            </a:extLst>
          </p:cNvPr>
          <p:cNvSpPr txBox="1"/>
          <p:nvPr/>
        </p:nvSpPr>
        <p:spPr>
          <a:xfrm>
            <a:off x="266699" y="1840268"/>
            <a:ext cx="5829301" cy="31393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tr-TR" b="1"/>
              <a:t>Programlama Aşaması </a:t>
            </a:r>
          </a:p>
          <a:p>
            <a:endParaRPr lang="tr-T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/>
              <a:t>Geliştirdiğimiz yazılım, </a:t>
            </a:r>
            <a:r>
              <a:rPr lang="tr-TR" b="1"/>
              <a:t>In-Circuit Serial Programming (ICSP)</a:t>
            </a:r>
            <a:r>
              <a:rPr lang="tr-TR"/>
              <a:t> protokolü kullanılarak, mikrodenetleyicinin </a:t>
            </a:r>
            <a:r>
              <a:rPr lang="tr-TR" b="1"/>
              <a:t>Port B</a:t>
            </a:r>
            <a:r>
              <a:rPr lang="tr-TR"/>
              <a:t> birimi (özellikle RB6/PGC ve RB7/PGD pinleri) üzerinden aktarılır.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/>
              <a:t>Aktarılan veriler doğrudan cihazın kalıcı </a:t>
            </a:r>
            <a:r>
              <a:rPr lang="tr-TR" b="1"/>
              <a:t>Flash Program Belleği’ne</a:t>
            </a:r>
            <a:r>
              <a:rPr lang="tr-TR"/>
              <a:t> yazılır. Bu aşamada işlemci henüz komutları çalıştırmaz; yalnızca veriyi fiziksel belleğe kaydeder.</a:t>
            </a:r>
          </a:p>
        </p:txBody>
      </p:sp>
      <p:cxnSp>
        <p:nvCxnSpPr>
          <p:cNvPr id="12" name="Düz Ok Bağlayıcısı 11">
            <a:extLst>
              <a:ext uri="{FF2B5EF4-FFF2-40B4-BE49-F238E27FC236}">
                <a16:creationId xmlns:a16="http://schemas.microsoft.com/office/drawing/2014/main" id="{05EC4133-BA36-26C2-D44B-5DC564B35C5E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6096000" y="2547257"/>
            <a:ext cx="3477208" cy="8626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1051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C7ED9-D7B4-A0E2-92B5-236FE7E7D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C469668-94CE-A1FF-81E4-EC6C1A0B4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PIC 16F877A</a:t>
            </a:r>
          </a:p>
        </p:txBody>
      </p:sp>
      <p:pic>
        <p:nvPicPr>
          <p:cNvPr id="7" name="İçerik Yer Tutucusu 6">
            <a:extLst>
              <a:ext uri="{FF2B5EF4-FFF2-40B4-BE49-F238E27FC236}">
                <a16:creationId xmlns:a16="http://schemas.microsoft.com/office/drawing/2014/main" id="{AF9B9E75-A9D0-EF33-8E27-8DF5894161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06073" y="1384418"/>
            <a:ext cx="5585927" cy="4732337"/>
          </a:xfrm>
          <a:prstGeom prst="rect">
            <a:avLst/>
          </a:prstGeom>
        </p:spPr>
      </p:pic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4D0FC2CE-1B90-41DF-65E2-01AD33B2D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tr-TR"/>
              <a:t>Adıyaman Üniversitesi Uzaktan Eğitim Uygulama ve Araştırma Merkezi</a:t>
            </a:r>
            <a:endParaRPr lang="tr-TR" dirty="0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93BE5CED-DEAF-9B1B-C47A-BF937BC50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0A2A-BC36-407E-86B9-E24EEBA61DF3}" type="slidenum">
              <a:rPr lang="tr-TR" smtClean="0"/>
              <a:pPr/>
              <a:t>25</a:t>
            </a:fld>
            <a:endParaRPr lang="tr-TR" dirty="0"/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F82B5BFA-9B2A-9CF2-876B-C2BFC84AABFA}"/>
              </a:ext>
            </a:extLst>
          </p:cNvPr>
          <p:cNvSpPr txBox="1"/>
          <p:nvPr/>
        </p:nvSpPr>
        <p:spPr>
          <a:xfrm>
            <a:off x="266699" y="1502688"/>
            <a:ext cx="5829301" cy="48013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r-TR" b="1"/>
              <a:t>2. Operasyonel Süreç ve Sinyal İşleme</a:t>
            </a:r>
          </a:p>
          <a:p>
            <a:endParaRPr lang="tr-T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/>
              <a:t>Sistem normal çalışma moduna geçtiğinde, harici sensörlerden gelen analog sinyaller (ısı, ışık vb.) fiziksel olarak </a:t>
            </a:r>
            <a:r>
              <a:rPr lang="tr-TR" b="1"/>
              <a:t>Port A</a:t>
            </a:r>
            <a:r>
              <a:rPr lang="tr-TR"/>
              <a:t> pinlerine (RA0-RA5) iletilir.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/>
              <a:t>İşlemci, Flash bellekten okuduğu komutlar doğrultusunda </a:t>
            </a:r>
            <a:r>
              <a:rPr lang="tr-TR" b="1"/>
              <a:t>Port A </a:t>
            </a:r>
            <a:r>
              <a:rPr lang="tr-TR"/>
              <a:t>girişlerini kontrol eder. Eğer yazılımda bir "Analog Oku" komutu mevcutsa, dahili </a:t>
            </a:r>
            <a:r>
              <a:rPr lang="tr-TR" b="1"/>
              <a:t>Analog-Dijital Dönüştürücü (ADC)</a:t>
            </a:r>
            <a:r>
              <a:rPr lang="tr-TR"/>
              <a:t> modülü aktifleşir.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/>
              <a:t>Port B üzerinden yüklenen talimatlar, işlemciye Port A pinlerinden gelen voltajı nasıl dijital veriye dönüştüreceğini ve bu veriyi nasıl işleyeceğini söyler.</a:t>
            </a:r>
          </a:p>
        </p:txBody>
      </p:sp>
      <p:cxnSp>
        <p:nvCxnSpPr>
          <p:cNvPr id="12" name="Düz Ok Bağlayıcısı 11">
            <a:extLst>
              <a:ext uri="{FF2B5EF4-FFF2-40B4-BE49-F238E27FC236}">
                <a16:creationId xmlns:a16="http://schemas.microsoft.com/office/drawing/2014/main" id="{177AAC4A-DD61-2078-8680-1E78675590B9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6096000" y="2528596"/>
            <a:ext cx="687355" cy="13747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98467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629BE2F-5195-D81A-996B-81302C5AF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PIC 16F877A</a:t>
            </a:r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0FD47442-0FDC-91EA-3D26-76141D7EC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tr-TR"/>
              <a:t>Adıyaman Üniversitesi Uzaktan Eğitim Uygulama ve Araştırma Merkezi</a:t>
            </a:r>
            <a:endParaRPr lang="tr-TR" dirty="0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8642A894-4DFA-AB2C-C073-A11BFFB7F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0A2A-BC36-407E-86B9-E24EEBA61DF3}" type="slidenum">
              <a:rPr lang="tr-TR" smtClean="0"/>
              <a:pPr/>
              <a:t>26</a:t>
            </a:fld>
            <a:endParaRPr lang="tr-TR" dirty="0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69E6DC9D-4DB4-33B7-4FD1-856B0774E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4891" y="1540414"/>
            <a:ext cx="4782217" cy="4813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8680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6765E-1E9C-3123-D81E-191345069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14767323-E79E-ED35-7BD3-5891CC3CE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tr-TR"/>
              <a:t>Adıyaman Üniversitesi Uzaktan Eğitim Uygulama ve Araştırma Merkezi</a:t>
            </a:r>
            <a:endParaRPr lang="tr-TR" dirty="0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1A5444D9-2FAB-3C08-F94A-37188B68C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0A2A-BC36-407E-86B9-E24EEBA61DF3}" type="slidenum">
              <a:rPr lang="tr-TR" smtClean="0"/>
              <a:pPr/>
              <a:t>27</a:t>
            </a:fld>
            <a:endParaRPr lang="tr-TR" dirty="0"/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358B2F2F-8C54-6C03-43EA-A678D7639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528" y="0"/>
            <a:ext cx="9657184" cy="6352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1035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29580-EA27-6C0A-7D52-AC20B2572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9295ED6-FB29-CB49-5153-EAE903751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PIC 16F877A</a:t>
            </a:r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2BCDCA9D-E620-B694-6319-846EA8F87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tr-TR"/>
              <a:t>Adıyaman Üniversitesi Uzaktan Eğitim Uygulama ve Araştırma Merkezi</a:t>
            </a:r>
            <a:endParaRPr lang="tr-TR" dirty="0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31BA1456-76E8-4F9B-6D74-BB7611309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0A2A-BC36-407E-86B9-E24EEBA61DF3}" type="slidenum">
              <a:rPr lang="tr-TR" smtClean="0"/>
              <a:pPr/>
              <a:t>28</a:t>
            </a:fld>
            <a:endParaRPr lang="tr-TR" dirty="0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F4E41605-3D3F-0E68-FD81-600579C04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236" y="1540414"/>
            <a:ext cx="4782217" cy="4813837"/>
          </a:xfrm>
          <a:prstGeom prst="rect">
            <a:avLst/>
          </a:prstGeom>
        </p:spPr>
      </p:pic>
      <p:sp>
        <p:nvSpPr>
          <p:cNvPr id="3" name="Metin kutusu 2">
            <a:extLst>
              <a:ext uri="{FF2B5EF4-FFF2-40B4-BE49-F238E27FC236}">
                <a16:creationId xmlns:a16="http://schemas.microsoft.com/office/drawing/2014/main" id="{F08DCFD0-E99F-D99D-AEF2-4FBCD972CE69}"/>
              </a:ext>
            </a:extLst>
          </p:cNvPr>
          <p:cNvSpPr txBox="1"/>
          <p:nvPr/>
        </p:nvSpPr>
        <p:spPr>
          <a:xfrm>
            <a:off x="345234" y="1916007"/>
            <a:ext cx="4982546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r-TR" b="1"/>
              <a:t>Program Counter(Program Yazacı): </a:t>
            </a:r>
          </a:p>
          <a:p>
            <a:endParaRPr lang="tr-TR"/>
          </a:p>
          <a:p>
            <a:r>
              <a:rPr lang="tr-TR"/>
              <a:t>İşlemcinin o an çalıştıracağı komutun adresini tutar. Bu adres </a:t>
            </a:r>
            <a:r>
              <a:rPr lang="tr-TR" b="1"/>
              <a:t>Flash Program Memory</a:t>
            </a:r>
            <a:r>
              <a:rPr lang="tr-TR"/>
              <a:t> birimine gönderilir.</a:t>
            </a:r>
          </a:p>
        </p:txBody>
      </p:sp>
      <p:cxnSp>
        <p:nvCxnSpPr>
          <p:cNvPr id="8" name="Düz Ok Bağlayıcısı 7">
            <a:extLst>
              <a:ext uri="{FF2B5EF4-FFF2-40B4-BE49-F238E27FC236}">
                <a16:creationId xmlns:a16="http://schemas.microsoft.com/office/drawing/2014/main" id="{363EF34C-D8DA-0546-F095-5A02DFFB8DDD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5327780" y="2127380"/>
            <a:ext cx="3181738" cy="5272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22569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7651A-5621-1810-6CC1-4F9FC3052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F5D92C8-BDD0-639A-D17C-BD8842EA5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PIC 16F877A</a:t>
            </a:r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F6610A8E-2115-109B-B5C5-234E13D75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tr-TR"/>
              <a:t>Adıyaman Üniversitesi Uzaktan Eğitim Uygulama ve Araştırma Merkezi</a:t>
            </a:r>
            <a:endParaRPr lang="tr-TR" dirty="0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37F1F247-53BD-5EF7-131D-DCC5FC36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0A2A-BC36-407E-86B9-E24EEBA61DF3}" type="slidenum">
              <a:rPr lang="tr-TR" smtClean="0"/>
              <a:pPr/>
              <a:t>29</a:t>
            </a:fld>
            <a:endParaRPr lang="tr-TR" dirty="0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17A2A946-EE9A-E83C-297B-B6BA5F432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236" y="1540414"/>
            <a:ext cx="4782217" cy="4813837"/>
          </a:xfrm>
          <a:prstGeom prst="rect">
            <a:avLst/>
          </a:prstGeom>
        </p:spPr>
      </p:pic>
      <p:sp>
        <p:nvSpPr>
          <p:cNvPr id="3" name="Metin kutusu 2">
            <a:extLst>
              <a:ext uri="{FF2B5EF4-FFF2-40B4-BE49-F238E27FC236}">
                <a16:creationId xmlns:a16="http://schemas.microsoft.com/office/drawing/2014/main" id="{E9571CDB-72CB-FF79-6509-070178630D81}"/>
              </a:ext>
            </a:extLst>
          </p:cNvPr>
          <p:cNvSpPr txBox="1"/>
          <p:nvPr/>
        </p:nvSpPr>
        <p:spPr>
          <a:xfrm>
            <a:off x="345234" y="1916007"/>
            <a:ext cx="4982546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r-TR" b="1"/>
              <a:t>Flash Program Belleği: </a:t>
            </a:r>
          </a:p>
          <a:p>
            <a:endParaRPr lang="tr-TR"/>
          </a:p>
          <a:p>
            <a:r>
              <a:rPr lang="tr-TR"/>
              <a:t>Kodların kalıcı olarak durduğu yerdir. </a:t>
            </a:r>
          </a:p>
          <a:p>
            <a:endParaRPr lang="tr-TR"/>
          </a:p>
          <a:p>
            <a:r>
              <a:rPr lang="tr-TR"/>
              <a:t>Her bir komut 14 bit genişliğindedir. </a:t>
            </a:r>
          </a:p>
          <a:p>
            <a:endParaRPr lang="tr-TR"/>
          </a:p>
          <a:p>
            <a:r>
              <a:rPr lang="tr-TR"/>
              <a:t>Diyagramdaki </a:t>
            </a:r>
            <a:r>
              <a:rPr lang="tr-TR" b="1"/>
              <a:t>"Instructions (14)"</a:t>
            </a:r>
            <a:r>
              <a:rPr lang="tr-TR"/>
              <a:t> oku, komutların veriden ayrı bir yol izlediğini (Harvard Mimarisi) kanıtlar.</a:t>
            </a:r>
          </a:p>
        </p:txBody>
      </p:sp>
      <p:cxnSp>
        <p:nvCxnSpPr>
          <p:cNvPr id="8" name="Düz Ok Bağlayıcısı 7">
            <a:extLst>
              <a:ext uri="{FF2B5EF4-FFF2-40B4-BE49-F238E27FC236}">
                <a16:creationId xmlns:a16="http://schemas.microsoft.com/office/drawing/2014/main" id="{54A0ADD1-3E47-848D-E6CA-87BA58FC9347}"/>
              </a:ext>
            </a:extLst>
          </p:cNvPr>
          <p:cNvCxnSpPr>
            <a:stCxn id="3" idx="3"/>
          </p:cNvCxnSpPr>
          <p:nvPr/>
        </p:nvCxnSpPr>
        <p:spPr>
          <a:xfrm flipV="1">
            <a:off x="5327780" y="2258008"/>
            <a:ext cx="1744824" cy="950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60573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43CF0-1880-A095-0EA6-D71498F21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863BA39-8E05-4CAA-6745-6AB40CB9C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PIC 16F877A</a:t>
            </a:r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32F19897-927D-4EDF-9A05-182DE2E4D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tr-TR"/>
              <a:t>Adıyaman Üniversitesi Uzaktan Eğitim Uygulama ve Araştırma Merkezi</a:t>
            </a:r>
            <a:endParaRPr lang="tr-TR" dirty="0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932FC81F-9FC5-49D6-36FB-076CDB970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0A2A-BC36-407E-86B9-E24EEBA61DF3}" type="slidenum">
              <a:rPr lang="tr-TR" smtClean="0"/>
              <a:pPr/>
              <a:t>30</a:t>
            </a:fld>
            <a:endParaRPr lang="tr-TR" dirty="0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8E4F9089-56DC-C57B-EF1C-CF1563DD9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236" y="1540414"/>
            <a:ext cx="4782217" cy="4813837"/>
          </a:xfrm>
          <a:prstGeom prst="rect">
            <a:avLst/>
          </a:prstGeom>
        </p:spPr>
      </p:pic>
      <p:sp>
        <p:nvSpPr>
          <p:cNvPr id="3" name="Metin kutusu 2">
            <a:extLst>
              <a:ext uri="{FF2B5EF4-FFF2-40B4-BE49-F238E27FC236}">
                <a16:creationId xmlns:a16="http://schemas.microsoft.com/office/drawing/2014/main" id="{7CE86588-2E60-2F14-74EB-BE6D1C172622}"/>
              </a:ext>
            </a:extLst>
          </p:cNvPr>
          <p:cNvSpPr txBox="1"/>
          <p:nvPr/>
        </p:nvSpPr>
        <p:spPr>
          <a:xfrm>
            <a:off x="345234" y="1916007"/>
            <a:ext cx="4982546" cy="49859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r-TR"/>
              <a:t>Komutlar 14 bit uzunluğundadır ve aşağıdaki bilgileri barındırır:</a:t>
            </a:r>
          </a:p>
          <a:p>
            <a:endParaRPr lang="tr-TR"/>
          </a:p>
          <a:p>
            <a:r>
              <a:rPr lang="tr-TR"/>
              <a:t>1. </a:t>
            </a:r>
            <a:r>
              <a:rPr lang="tr-TR" b="1"/>
              <a:t>Opcode (işlem kodu)</a:t>
            </a:r>
            <a:r>
              <a:rPr lang="tr-TR"/>
              <a:t> → hangi işlem yapılacak,6-bit</a:t>
            </a:r>
            <a:br>
              <a:rPr lang="tr-TR"/>
            </a:br>
            <a:endParaRPr lang="tr-TR"/>
          </a:p>
          <a:p>
            <a:r>
              <a:rPr lang="tr-TR"/>
              <a:t>2️. </a:t>
            </a:r>
            <a:r>
              <a:rPr lang="tr-TR" b="1"/>
              <a:t>Register adresi</a:t>
            </a:r>
            <a:r>
              <a:rPr lang="tr-TR"/>
              <a:t> → hangi register kullanılacak,7-bit</a:t>
            </a:r>
            <a:br>
              <a:rPr lang="tr-TR"/>
            </a:br>
            <a:endParaRPr lang="tr-TR"/>
          </a:p>
          <a:p>
            <a:r>
              <a:rPr lang="tr-TR"/>
              <a:t>3️. </a:t>
            </a:r>
            <a:r>
              <a:rPr lang="tr-TR" b="1"/>
              <a:t>Hedef bit (d)</a:t>
            </a:r>
            <a:r>
              <a:rPr lang="tr-TR"/>
              <a:t> → sonuç nereye yazılacak,1-bit</a:t>
            </a:r>
            <a:br>
              <a:rPr lang="tr-TR"/>
            </a:br>
            <a:endParaRPr lang="tr-TR"/>
          </a:p>
          <a:p>
            <a:r>
              <a:rPr lang="tr-TR"/>
              <a:t>4️. </a:t>
            </a:r>
            <a:r>
              <a:rPr lang="tr-TR" b="1"/>
              <a:t>Literal veri</a:t>
            </a:r>
            <a:r>
              <a:rPr lang="tr-TR"/>
              <a:t> → bazı komutlarda sabit sayı bulunur, bellekten veri getirilmez</a:t>
            </a:r>
          </a:p>
          <a:p>
            <a:endParaRPr lang="tr-TR"/>
          </a:p>
          <a:p>
            <a:r>
              <a:rPr lang="tr-TR" sz="1600" b="1"/>
              <a:t>Not</a:t>
            </a:r>
            <a:r>
              <a:rPr lang="tr-TR" sz="1600"/>
              <a:t>:Yukarıdaki işlemler için 8-bit yeterli gelmediğinden, 16-bit ise fazla olduğundan 14-bit standart olarak belirlenmiştir.</a:t>
            </a:r>
          </a:p>
        </p:txBody>
      </p:sp>
      <p:cxnSp>
        <p:nvCxnSpPr>
          <p:cNvPr id="8" name="Düz Ok Bağlayıcısı 7">
            <a:extLst>
              <a:ext uri="{FF2B5EF4-FFF2-40B4-BE49-F238E27FC236}">
                <a16:creationId xmlns:a16="http://schemas.microsoft.com/office/drawing/2014/main" id="{125B5C19-735B-669E-CE2D-8DFFAE053E66}"/>
              </a:ext>
            </a:extLst>
          </p:cNvPr>
          <p:cNvCxnSpPr>
            <a:stCxn id="3" idx="3"/>
          </p:cNvCxnSpPr>
          <p:nvPr/>
        </p:nvCxnSpPr>
        <p:spPr>
          <a:xfrm flipV="1">
            <a:off x="5327780" y="2258008"/>
            <a:ext cx="1744824" cy="21509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78864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E5251-F31D-1B43-E93D-38A29992F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D891AF4-E1FA-E352-02A7-959FBA88F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PIC 16F877A</a:t>
            </a:r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F4027F58-A190-3BBD-A9DC-8E88AA234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tr-TR"/>
              <a:t>Adıyaman Üniversitesi Uzaktan Eğitim Uygulama ve Araştırma Merkezi</a:t>
            </a:r>
            <a:endParaRPr lang="tr-TR" dirty="0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1F1BABC6-4395-AEDB-A52C-4E26FD642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0A2A-BC36-407E-86B9-E24EEBA61DF3}" type="slidenum">
              <a:rPr lang="tr-TR" smtClean="0"/>
              <a:pPr/>
              <a:t>31</a:t>
            </a:fld>
            <a:endParaRPr lang="tr-TR" dirty="0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3A966556-87E4-97DC-81A0-1E8C1DE9D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236" y="1540414"/>
            <a:ext cx="4782217" cy="4813837"/>
          </a:xfrm>
          <a:prstGeom prst="rect">
            <a:avLst/>
          </a:prstGeom>
        </p:spPr>
      </p:pic>
      <p:sp>
        <p:nvSpPr>
          <p:cNvPr id="3" name="Metin kutusu 2">
            <a:extLst>
              <a:ext uri="{FF2B5EF4-FFF2-40B4-BE49-F238E27FC236}">
                <a16:creationId xmlns:a16="http://schemas.microsoft.com/office/drawing/2014/main" id="{799900B6-AD54-3A01-E2BE-C4527CEA9B54}"/>
              </a:ext>
            </a:extLst>
          </p:cNvPr>
          <p:cNvSpPr txBox="1"/>
          <p:nvPr/>
        </p:nvSpPr>
        <p:spPr>
          <a:xfrm>
            <a:off x="345234" y="1916007"/>
            <a:ext cx="4982546" cy="424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r-TR" b="1"/>
              <a:t>Instruction Register: </a:t>
            </a:r>
          </a:p>
          <a:p>
            <a:endParaRPr lang="tr-TR"/>
          </a:p>
          <a:p>
            <a:r>
              <a:rPr lang="tr-TR"/>
              <a:t>Komut buraya alınır ve ardından </a:t>
            </a:r>
            <a:r>
              <a:rPr lang="tr-TR" b="1"/>
              <a:t>Instruction Decode &amp; Control</a:t>
            </a:r>
            <a:r>
              <a:rPr lang="tr-TR"/>
              <a:t> birimine iletilir.</a:t>
            </a:r>
          </a:p>
          <a:p>
            <a:endParaRPr lang="tr-TR"/>
          </a:p>
          <a:p>
            <a:r>
              <a:rPr lang="tr-TR" b="1"/>
              <a:t>IR</a:t>
            </a:r>
            <a:r>
              <a:rPr lang="tr-TR"/>
              <a:t>, komutu bellekten bir kez "yakalar" ve tüm işlem (fetch-decode-execute) bitene kadar onu </a:t>
            </a:r>
            <a:r>
              <a:rPr lang="tr-TR" b="1"/>
              <a:t>sabit bir şekilde tutar.</a:t>
            </a:r>
            <a:r>
              <a:rPr lang="tr-TR"/>
              <a:t> Böylece kod çözücü, işlem bitene kadar aynı komutu görür. </a:t>
            </a:r>
          </a:p>
          <a:p>
            <a:endParaRPr lang="tr-TR"/>
          </a:p>
          <a:p>
            <a:r>
              <a:rPr lang="tr-TR"/>
              <a:t>Bu sayede kod çözücü bellekten gelen verideki dalgalanma veya gecikmeden</a:t>
            </a:r>
          </a:p>
          <a:p>
            <a:r>
              <a:rPr lang="tr-TR"/>
              <a:t>etkilenmez.</a:t>
            </a:r>
          </a:p>
          <a:p>
            <a:endParaRPr lang="tr-TR"/>
          </a:p>
        </p:txBody>
      </p:sp>
      <p:cxnSp>
        <p:nvCxnSpPr>
          <p:cNvPr id="8" name="Düz Ok Bağlayıcısı 7">
            <a:extLst>
              <a:ext uri="{FF2B5EF4-FFF2-40B4-BE49-F238E27FC236}">
                <a16:creationId xmlns:a16="http://schemas.microsoft.com/office/drawing/2014/main" id="{893BE6B4-360C-643C-1792-FA41AF02B20E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5327780" y="3312367"/>
            <a:ext cx="1772816" cy="7272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01779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E20A3-461C-845E-4C1F-DB2E861E8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901FD2A-FBA2-C625-6957-24FE4EDF2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PIC 16F877A</a:t>
            </a:r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FDDF1624-FC47-FB82-7A52-838FF55CC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tr-TR"/>
              <a:t>Adıyaman Üniversitesi Uzaktan Eğitim Uygulama ve Araştırma Merkezi</a:t>
            </a:r>
            <a:endParaRPr lang="tr-TR" dirty="0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1A90ED4E-DB5D-8B74-F23B-CD37531F6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0A2A-BC36-407E-86B9-E24EEBA61DF3}" type="slidenum">
              <a:rPr lang="tr-TR" smtClean="0"/>
              <a:pPr/>
              <a:t>32</a:t>
            </a:fld>
            <a:endParaRPr lang="tr-TR" dirty="0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DC46133C-E9EB-04E5-1C2E-6E7E51069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236" y="1540414"/>
            <a:ext cx="4782217" cy="4813837"/>
          </a:xfrm>
          <a:prstGeom prst="rect">
            <a:avLst/>
          </a:prstGeom>
        </p:spPr>
      </p:pic>
      <p:sp>
        <p:nvSpPr>
          <p:cNvPr id="3" name="Metin kutusu 2">
            <a:extLst>
              <a:ext uri="{FF2B5EF4-FFF2-40B4-BE49-F238E27FC236}">
                <a16:creationId xmlns:a16="http://schemas.microsoft.com/office/drawing/2014/main" id="{0D6CC474-6072-CBF7-0F29-6559FBFCBA18}"/>
              </a:ext>
            </a:extLst>
          </p:cNvPr>
          <p:cNvSpPr txBox="1"/>
          <p:nvPr/>
        </p:nvSpPr>
        <p:spPr>
          <a:xfrm>
            <a:off x="345234" y="1916007"/>
            <a:ext cx="4982546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r-TR" b="1"/>
              <a:t>Örnek komut</a:t>
            </a:r>
            <a:r>
              <a:rPr lang="tr-TR"/>
              <a:t>: ADDWF f,d</a:t>
            </a:r>
          </a:p>
          <a:p>
            <a:endParaRPr lang="tr-TR"/>
          </a:p>
          <a:p>
            <a:r>
              <a:rPr lang="tr-TR" b="1"/>
              <a:t>Bit yapısı: </a:t>
            </a:r>
            <a:r>
              <a:rPr lang="tr-TR"/>
              <a:t>| opcode | d | ffffff |</a:t>
            </a:r>
          </a:p>
          <a:p>
            <a:endParaRPr lang="tr-TR"/>
          </a:p>
          <a:p>
            <a:r>
              <a:rPr lang="tr-TR" b="1" u="sng"/>
              <a:t>opcode </a:t>
            </a:r>
            <a:r>
              <a:rPr lang="tr-TR"/>
              <a:t>→işlem türü (ADD, AND, MOV..),</a:t>
            </a:r>
          </a:p>
          <a:p>
            <a:r>
              <a:rPr lang="tr-TR"/>
              <a:t>6-bit uzunluğundadır</a:t>
            </a:r>
          </a:p>
          <a:p>
            <a:endParaRPr lang="tr-TR"/>
          </a:p>
          <a:p>
            <a:r>
              <a:rPr lang="tr-TR" b="1" u="sng"/>
              <a:t>d</a:t>
            </a:r>
            <a:r>
              <a:rPr lang="tr-TR"/>
              <a:t> → sonuç W registera mı yoksa f registera mı yazılacak, d=0 ise W’ye yazılacak, </a:t>
            </a:r>
          </a:p>
          <a:p>
            <a:r>
              <a:rPr lang="tr-TR"/>
              <a:t>1-bit uzunluğundadır</a:t>
            </a:r>
          </a:p>
          <a:p>
            <a:endParaRPr lang="tr-TR"/>
          </a:p>
          <a:p>
            <a:r>
              <a:rPr lang="tr-TR" b="1" u="sng"/>
              <a:t>f</a:t>
            </a:r>
            <a:r>
              <a:rPr lang="tr-TR"/>
              <a:t> → File register adresi, 7-bit uzunluğundadır</a:t>
            </a:r>
          </a:p>
        </p:txBody>
      </p:sp>
      <p:cxnSp>
        <p:nvCxnSpPr>
          <p:cNvPr id="8" name="Düz Ok Bağlayıcısı 7">
            <a:extLst>
              <a:ext uri="{FF2B5EF4-FFF2-40B4-BE49-F238E27FC236}">
                <a16:creationId xmlns:a16="http://schemas.microsoft.com/office/drawing/2014/main" id="{ABD29E5C-FDC9-608F-EE2A-6E7671FE6497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5327780" y="3624167"/>
            <a:ext cx="1754155" cy="14423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77450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42143-8EB7-3E0A-FC69-7DE7D6274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4397AA5-5161-3DBE-F342-DCC7C5D5F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PIC 16F877A</a:t>
            </a:r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E01E0CEC-F925-8B49-3064-C73C92881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tr-TR"/>
              <a:t>Adıyaman Üniversitesi Uzaktan Eğitim Uygulama ve Araştırma Merkezi</a:t>
            </a:r>
            <a:endParaRPr lang="tr-TR" dirty="0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F75888E9-32CE-7B58-BE3B-2CCDF540E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0A2A-BC36-407E-86B9-E24EEBA61DF3}" type="slidenum">
              <a:rPr lang="tr-TR" smtClean="0"/>
              <a:pPr/>
              <a:t>33</a:t>
            </a:fld>
            <a:endParaRPr lang="tr-TR" dirty="0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E91CB790-59E2-5C60-7BCE-4E3FAE29C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236" y="1540414"/>
            <a:ext cx="4782217" cy="4813837"/>
          </a:xfrm>
          <a:prstGeom prst="rect">
            <a:avLst/>
          </a:prstGeom>
        </p:spPr>
      </p:pic>
      <p:sp>
        <p:nvSpPr>
          <p:cNvPr id="3" name="Metin kutusu 2">
            <a:extLst>
              <a:ext uri="{FF2B5EF4-FFF2-40B4-BE49-F238E27FC236}">
                <a16:creationId xmlns:a16="http://schemas.microsoft.com/office/drawing/2014/main" id="{C2DF7A6C-5194-1C70-52E8-ACC5FBD10A65}"/>
              </a:ext>
            </a:extLst>
          </p:cNvPr>
          <p:cNvSpPr txBox="1"/>
          <p:nvPr/>
        </p:nvSpPr>
        <p:spPr>
          <a:xfrm>
            <a:off x="345234" y="1916007"/>
            <a:ext cx="4982546" cy="39703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r-TR" b="1"/>
              <a:t>Instruction Decode &amp; Control (Komut Çözücü ve Kontrol):</a:t>
            </a:r>
            <a:r>
              <a:rPr lang="tr-TR"/>
              <a:t> </a:t>
            </a:r>
          </a:p>
          <a:p>
            <a:endParaRPr lang="tr-TR"/>
          </a:p>
          <a:p>
            <a:r>
              <a:rPr lang="tr-TR"/>
              <a:t>Bu birim, komutu analiz ederek hangi donanım biriminin (Portlar, ALU veya Bellek) çalışacağını belirleyen kontrol sinyallerini (</a:t>
            </a:r>
            <a:r>
              <a:rPr lang="tr-TR" b="1"/>
              <a:t>MCU control lines</a:t>
            </a:r>
            <a:r>
              <a:rPr lang="tr-TR"/>
              <a:t>) üretir.</a:t>
            </a:r>
          </a:p>
          <a:p>
            <a:endParaRPr lang="tr-TR"/>
          </a:p>
          <a:p>
            <a:r>
              <a:rPr lang="tr-TR"/>
              <a:t>Bu sinyaller kod çözücüden çıkan ve her biri işlemcinin farklı bir parçasını yöneten çok sayıda (genellikle onlarca) bağımsız elektrik hattından oluşur.</a:t>
            </a:r>
          </a:p>
          <a:p>
            <a:endParaRPr lang="tr-TR"/>
          </a:p>
          <a:p>
            <a:r>
              <a:rPr lang="tr-TR"/>
              <a:t>Her bir hat (sinyal) bir birimi kontrol eder.</a:t>
            </a:r>
          </a:p>
        </p:txBody>
      </p:sp>
      <p:cxnSp>
        <p:nvCxnSpPr>
          <p:cNvPr id="8" name="Düz Ok Bağlayıcısı 7">
            <a:extLst>
              <a:ext uri="{FF2B5EF4-FFF2-40B4-BE49-F238E27FC236}">
                <a16:creationId xmlns:a16="http://schemas.microsoft.com/office/drawing/2014/main" id="{9D537778-2288-5E32-0485-3FF54C799F8C}"/>
              </a:ext>
            </a:extLst>
          </p:cNvPr>
          <p:cNvCxnSpPr>
            <a:cxnSpLocks/>
          </p:cNvCxnSpPr>
          <p:nvPr/>
        </p:nvCxnSpPr>
        <p:spPr>
          <a:xfrm>
            <a:off x="5327780" y="3312367"/>
            <a:ext cx="1782147" cy="17448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60627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A45E4-7D10-2964-44E8-752129337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CE7C3F0-7FB7-E73D-8569-7B7BF3118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PIC 16F877A</a:t>
            </a:r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853F8243-FDC5-39A6-2138-52EFC68DB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tr-TR"/>
              <a:t>Adıyaman Üniversitesi Uzaktan Eğitim Uygulama ve Araştırma Merkezi</a:t>
            </a:r>
            <a:endParaRPr lang="tr-TR" dirty="0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3594AD29-6995-3936-4805-FD615B30E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0A2A-BC36-407E-86B9-E24EEBA61DF3}" type="slidenum">
              <a:rPr lang="tr-TR" smtClean="0"/>
              <a:pPr/>
              <a:t>34</a:t>
            </a:fld>
            <a:endParaRPr lang="tr-TR" dirty="0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280A5354-4AB6-EE8A-3D5D-BBC0216DB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236" y="1540414"/>
            <a:ext cx="4782217" cy="4813837"/>
          </a:xfrm>
          <a:prstGeom prst="rect">
            <a:avLst/>
          </a:prstGeom>
        </p:spPr>
      </p:pic>
      <p:sp>
        <p:nvSpPr>
          <p:cNvPr id="3" name="Metin kutusu 2">
            <a:extLst>
              <a:ext uri="{FF2B5EF4-FFF2-40B4-BE49-F238E27FC236}">
                <a16:creationId xmlns:a16="http://schemas.microsoft.com/office/drawing/2014/main" id="{5E2953FF-F9A3-1E1F-125E-33B9B420284B}"/>
              </a:ext>
            </a:extLst>
          </p:cNvPr>
          <p:cNvSpPr txBox="1"/>
          <p:nvPr/>
        </p:nvSpPr>
        <p:spPr>
          <a:xfrm>
            <a:off x="345234" y="1916007"/>
            <a:ext cx="4982546" cy="424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r-TR"/>
              <a:t>Örneğin, bir ADDWF f, d komutu için kod çözücü şu işlemler için aynı anda sinyal gönderir:</a:t>
            </a:r>
          </a:p>
          <a:p>
            <a:endParaRPr lang="tr-TR"/>
          </a:p>
          <a:p>
            <a:r>
              <a:rPr lang="tr-TR" b="1"/>
              <a:t>RAM'e:</a:t>
            </a:r>
            <a:r>
              <a:rPr lang="tr-TR"/>
              <a:t> "Şu 7-bitlik adresteki veriyi oku ve yola çıkar." (Read Enable)</a:t>
            </a:r>
          </a:p>
          <a:p>
            <a:endParaRPr lang="tr-TR" b="1"/>
          </a:p>
          <a:p>
            <a:r>
              <a:rPr lang="tr-TR" b="1"/>
              <a:t>ALU'ya:</a:t>
            </a:r>
            <a:r>
              <a:rPr lang="tr-TR"/>
              <a:t> "Gelen veriyi W register ile topla." (ALU Op: ADD)</a:t>
            </a:r>
          </a:p>
          <a:p>
            <a:endParaRPr lang="tr-TR" b="1"/>
          </a:p>
          <a:p>
            <a:r>
              <a:rPr lang="tr-TR" b="1"/>
              <a:t>W Register'a:</a:t>
            </a:r>
            <a:r>
              <a:rPr lang="tr-TR"/>
              <a:t> "Sonucu al ya da alma." (W Write Enable - d bitine bağlı)</a:t>
            </a:r>
          </a:p>
          <a:p>
            <a:endParaRPr lang="tr-TR" b="1"/>
          </a:p>
          <a:p>
            <a:r>
              <a:rPr lang="tr-TR" b="1"/>
              <a:t>Status Register'a:</a:t>
            </a:r>
            <a:r>
              <a:rPr lang="tr-TR"/>
              <a:t> "Elde (Carry) veya Sıfır (Zero) olduysa bayrakları güncelle."</a:t>
            </a:r>
          </a:p>
        </p:txBody>
      </p:sp>
      <p:cxnSp>
        <p:nvCxnSpPr>
          <p:cNvPr id="8" name="Düz Ok Bağlayıcısı 7">
            <a:extLst>
              <a:ext uri="{FF2B5EF4-FFF2-40B4-BE49-F238E27FC236}">
                <a16:creationId xmlns:a16="http://schemas.microsoft.com/office/drawing/2014/main" id="{613FE485-82A1-6EA8-50BF-DA39584EE52E}"/>
              </a:ext>
            </a:extLst>
          </p:cNvPr>
          <p:cNvCxnSpPr>
            <a:cxnSpLocks/>
          </p:cNvCxnSpPr>
          <p:nvPr/>
        </p:nvCxnSpPr>
        <p:spPr>
          <a:xfrm>
            <a:off x="5327780" y="3312367"/>
            <a:ext cx="1782147" cy="17448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54304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E96F8-5698-D006-A6AF-E25CBF70A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6C7D9FC-4064-9A6B-33C2-C975E74AD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PIC 16F877A</a:t>
            </a:r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4EF157BC-AE07-7985-0FB6-31297BEDD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tr-TR"/>
              <a:t>Adıyaman Üniversitesi Uzaktan Eğitim Uygulama ve Araştırma Merkezi</a:t>
            </a:r>
            <a:endParaRPr lang="tr-TR" dirty="0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9B636720-9686-AC84-1684-DA2CD2545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0A2A-BC36-407E-86B9-E24EEBA61DF3}" type="slidenum">
              <a:rPr lang="tr-TR" smtClean="0"/>
              <a:pPr/>
              <a:t>35</a:t>
            </a:fld>
            <a:endParaRPr lang="tr-TR" dirty="0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2FBDBC8A-D0B5-46D5-CB58-195BC02C2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236" y="1540414"/>
            <a:ext cx="4782217" cy="4813837"/>
          </a:xfrm>
          <a:prstGeom prst="rect">
            <a:avLst/>
          </a:prstGeom>
        </p:spPr>
      </p:pic>
      <p:cxnSp>
        <p:nvCxnSpPr>
          <p:cNvPr id="8" name="Düz Ok Bağlayıcısı 7">
            <a:extLst>
              <a:ext uri="{FF2B5EF4-FFF2-40B4-BE49-F238E27FC236}">
                <a16:creationId xmlns:a16="http://schemas.microsoft.com/office/drawing/2014/main" id="{43DB4269-6A10-EF87-C2FB-1B4411937BAB}"/>
              </a:ext>
            </a:extLst>
          </p:cNvPr>
          <p:cNvCxnSpPr>
            <a:cxnSpLocks/>
          </p:cNvCxnSpPr>
          <p:nvPr/>
        </p:nvCxnSpPr>
        <p:spPr>
          <a:xfrm>
            <a:off x="5047861" y="4618653"/>
            <a:ext cx="32283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">
            <a:extLst>
              <a:ext uri="{FF2B5EF4-FFF2-40B4-BE49-F238E27FC236}">
                <a16:creationId xmlns:a16="http://schemas.microsoft.com/office/drawing/2014/main" id="{56A55716-E10B-203F-083C-16E5BBAC2A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77936"/>
            <a:ext cx="5047861" cy="53553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tr-TR" altLang="tr-TR" b="1"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Bit 0 (C - Carry):</a:t>
            </a:r>
            <a:r>
              <a:rPr kumimoji="0" lang="tr-TR" altLang="tr-T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Elde bayrağı.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Bit 1 (DC - Digit Carry):</a:t>
            </a:r>
            <a:r>
              <a:rPr kumimoji="0" lang="tr-TR" altLang="tr-T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Yarım elde</a:t>
            </a:r>
            <a:endParaRPr kumimoji="0" lang="tr-TR" altLang="tr-TR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Bit 2 (Z - Zero):</a:t>
            </a:r>
            <a:r>
              <a:rPr kumimoji="0" lang="tr-TR" altLang="tr-T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İşlem sonucu "0" çıktıysa yanar.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Bit 3 (PD):</a:t>
            </a:r>
            <a:r>
              <a:rPr kumimoji="0" lang="tr-TR" altLang="tr-T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Güç kesilmesi/uyku modu takibi.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Bit 4 (TO):</a:t>
            </a:r>
            <a:r>
              <a:rPr kumimoji="0" lang="tr-TR" altLang="tr-T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Zaman aşımı takibi.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Bit 5 (RP0):</a:t>
            </a:r>
            <a:r>
              <a:rPr kumimoji="0" lang="tr-TR" altLang="tr-T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Bank seçme biti 1.</a:t>
            </a:r>
            <a:endParaRPr kumimoji="0" lang="tr-TR" altLang="tr-T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Bit 6 (RP1):</a:t>
            </a:r>
            <a:r>
              <a:rPr kumimoji="0" lang="tr-TR" altLang="tr-T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Bank seçme biti 2.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Bit 7 (IRP):</a:t>
            </a:r>
            <a:r>
              <a:rPr kumimoji="0" lang="tr-TR" altLang="tr-T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Dolaylı adresleme bank seçme biti.</a:t>
            </a:r>
          </a:p>
        </p:txBody>
      </p:sp>
    </p:spTree>
    <p:extLst>
      <p:ext uri="{BB962C8B-B14F-4D97-AF65-F5344CB8AC3E}">
        <p14:creationId xmlns:p14="http://schemas.microsoft.com/office/powerpoint/2010/main" val="4337240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903EC-1905-0D38-E01D-DBB3A4BAD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B8E5D33-EFC4-FEDA-2F9F-9C260AA86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PIC 16F877A</a:t>
            </a:r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9E33AE75-8210-B2DA-750E-278B20602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tr-TR"/>
              <a:t>Adıyaman Üniversitesi Uzaktan Eğitim Uygulama ve Araştırma Merkezi</a:t>
            </a:r>
            <a:endParaRPr lang="tr-TR" dirty="0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6B9A4832-1350-BDF6-1DBB-3A50A58E2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0A2A-BC36-407E-86B9-E24EEBA61DF3}" type="slidenum">
              <a:rPr lang="tr-TR" smtClean="0"/>
              <a:pPr/>
              <a:t>36</a:t>
            </a:fld>
            <a:endParaRPr lang="tr-TR" dirty="0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1D6E7949-E933-CA62-3557-8D6115844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236" y="1540414"/>
            <a:ext cx="4782217" cy="4813837"/>
          </a:xfrm>
          <a:prstGeom prst="rect">
            <a:avLst/>
          </a:prstGeom>
        </p:spPr>
      </p:pic>
      <p:sp>
        <p:nvSpPr>
          <p:cNvPr id="3" name="Metin kutusu 2">
            <a:extLst>
              <a:ext uri="{FF2B5EF4-FFF2-40B4-BE49-F238E27FC236}">
                <a16:creationId xmlns:a16="http://schemas.microsoft.com/office/drawing/2014/main" id="{CFF031FF-5718-69A6-7935-B38F6936A690}"/>
              </a:ext>
            </a:extLst>
          </p:cNvPr>
          <p:cNvSpPr txBox="1"/>
          <p:nvPr/>
        </p:nvSpPr>
        <p:spPr>
          <a:xfrm>
            <a:off x="345234" y="1982895"/>
            <a:ext cx="4982546" cy="40318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r-TR" sz="1600" b="1"/>
              <a:t>File Select Register</a:t>
            </a:r>
            <a:endParaRPr lang="tr-TR" sz="1600"/>
          </a:p>
          <a:p>
            <a:endParaRPr lang="tr-TR" sz="1600"/>
          </a:p>
          <a:p>
            <a:r>
              <a:rPr lang="tr-TR" sz="1600" b="1"/>
              <a:t>Döngüler:</a:t>
            </a:r>
            <a:r>
              <a:rPr lang="tr-TR" sz="1600"/>
              <a:t> RAM'deki geniş bir alanı taramak, temizlemek veya kopyalamak için şarttır.</a:t>
            </a:r>
          </a:p>
          <a:p>
            <a:endParaRPr lang="tr-TR" sz="1600"/>
          </a:p>
          <a:p>
            <a:r>
              <a:rPr lang="tr-TR" sz="1600" b="1"/>
              <a:t>Dinamik Veri:</a:t>
            </a:r>
            <a:r>
              <a:rPr lang="tr-TR" sz="1600"/>
              <a:t> Program çalışırken hangi adrese ulaşacağın değişiyorsa (örneğin bir sensörden gelen verileri sırayla hafızaya kaydediyorsan) FSR kullanılır.</a:t>
            </a:r>
          </a:p>
          <a:p>
            <a:endParaRPr lang="tr-TR" sz="1600"/>
          </a:p>
          <a:p>
            <a:r>
              <a:rPr lang="tr-TR" sz="1600" b="1"/>
              <a:t>Bank Sınırlarını Aşmak:</a:t>
            </a:r>
            <a:r>
              <a:rPr lang="tr-TR" sz="1600"/>
              <a:t> FSR 8-bitlik bir register'dır ancak PIC 16F877A'da bankları da kapsayacak şekilde adresleme yapabilmek için </a:t>
            </a:r>
            <a:r>
              <a:rPr lang="tr-TR" sz="1600" b="1"/>
              <a:t>STATUS</a:t>
            </a:r>
            <a:r>
              <a:rPr lang="tr-TR" sz="1600"/>
              <a:t> register'ındaki </a:t>
            </a:r>
            <a:r>
              <a:rPr lang="tr-TR" sz="1600" b="1"/>
              <a:t>IRP</a:t>
            </a:r>
            <a:r>
              <a:rPr lang="tr-TR" sz="1600"/>
              <a:t> biti ile beraber kullanılır ve böylece 9-bitlik bir adresleme gücüne ulaşır ve tüm banklara (0-3) dolaylı olarak erişebilir.</a:t>
            </a:r>
          </a:p>
        </p:txBody>
      </p:sp>
      <p:cxnSp>
        <p:nvCxnSpPr>
          <p:cNvPr id="8" name="Düz Ok Bağlayıcısı 7">
            <a:extLst>
              <a:ext uri="{FF2B5EF4-FFF2-40B4-BE49-F238E27FC236}">
                <a16:creationId xmlns:a16="http://schemas.microsoft.com/office/drawing/2014/main" id="{483944D5-87A2-0D6A-9187-F854E02C0712}"/>
              </a:ext>
            </a:extLst>
          </p:cNvPr>
          <p:cNvCxnSpPr>
            <a:cxnSpLocks/>
          </p:cNvCxnSpPr>
          <p:nvPr/>
        </p:nvCxnSpPr>
        <p:spPr>
          <a:xfrm>
            <a:off x="5327780" y="4096139"/>
            <a:ext cx="45906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Düz Ok Bağlayıcısı 10">
            <a:extLst>
              <a:ext uri="{FF2B5EF4-FFF2-40B4-BE49-F238E27FC236}">
                <a16:creationId xmlns:a16="http://schemas.microsoft.com/office/drawing/2014/main" id="{187C20F6-4717-3FB5-9E98-236A900746D4}"/>
              </a:ext>
            </a:extLst>
          </p:cNvPr>
          <p:cNvCxnSpPr>
            <a:cxnSpLocks/>
          </p:cNvCxnSpPr>
          <p:nvPr/>
        </p:nvCxnSpPr>
        <p:spPr>
          <a:xfrm flipV="1">
            <a:off x="9122344" y="4161454"/>
            <a:ext cx="796097" cy="2892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27332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09487-33FE-E195-D4AF-A15082D03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7A36F1C-090A-5B4A-508D-8DC42AE22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PIC 16F877A</a:t>
            </a:r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D21AF99A-4E91-21CF-8D4A-1A74FE615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tr-TR"/>
              <a:t>Adıyaman Üniversitesi Uzaktan Eğitim Uygulama ve Araştırma Merkezi</a:t>
            </a:r>
            <a:endParaRPr lang="tr-TR" dirty="0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8C5F5BCB-6126-03ED-A526-EA957E2F4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0A2A-BC36-407E-86B9-E24EEBA61DF3}" type="slidenum">
              <a:rPr lang="tr-TR" smtClean="0"/>
              <a:pPr/>
              <a:t>37</a:t>
            </a:fld>
            <a:endParaRPr lang="tr-TR" dirty="0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A28B9506-9033-7356-1B4C-F544A9B76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236" y="1540414"/>
            <a:ext cx="4782217" cy="4813837"/>
          </a:xfrm>
          <a:prstGeom prst="rect">
            <a:avLst/>
          </a:prstGeom>
        </p:spPr>
      </p:pic>
      <p:sp>
        <p:nvSpPr>
          <p:cNvPr id="3" name="Metin kutusu 2">
            <a:extLst>
              <a:ext uri="{FF2B5EF4-FFF2-40B4-BE49-F238E27FC236}">
                <a16:creationId xmlns:a16="http://schemas.microsoft.com/office/drawing/2014/main" id="{A714E878-F986-BE96-B642-F2CF2EDE4CEA}"/>
              </a:ext>
            </a:extLst>
          </p:cNvPr>
          <p:cNvSpPr txBox="1"/>
          <p:nvPr/>
        </p:nvSpPr>
        <p:spPr>
          <a:xfrm>
            <a:off x="345234" y="1982895"/>
            <a:ext cx="4982546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r-TR" b="1"/>
              <a:t>RAM File Registers (368 x 8 bit):</a:t>
            </a:r>
            <a:r>
              <a:rPr lang="tr-TR"/>
              <a:t> </a:t>
            </a:r>
          </a:p>
          <a:p>
            <a:endParaRPr lang="tr-TR"/>
          </a:p>
          <a:p>
            <a:r>
              <a:rPr lang="tr-TR"/>
              <a:t>Verilerin geçici olarak tutulduğu alandır. Diyagramda görüldüğü üzere, ALU'dan çıkan sonuçlar buraya kaydedilebilir.</a:t>
            </a:r>
          </a:p>
          <a:p>
            <a:endParaRPr lang="tr-TR"/>
          </a:p>
          <a:p>
            <a:r>
              <a:rPr lang="tr-TR" b="1"/>
              <a:t>File Address</a:t>
            </a:r>
            <a:r>
              <a:rPr lang="tr-TR"/>
              <a:t> hattı üzerinden gelen adres bilgisine göre ilgili veri paketlenip Veri Yolu’na aktarılır.</a:t>
            </a:r>
          </a:p>
        </p:txBody>
      </p:sp>
      <p:cxnSp>
        <p:nvCxnSpPr>
          <p:cNvPr id="8" name="Düz Ok Bağlayıcısı 7">
            <a:extLst>
              <a:ext uri="{FF2B5EF4-FFF2-40B4-BE49-F238E27FC236}">
                <a16:creationId xmlns:a16="http://schemas.microsoft.com/office/drawing/2014/main" id="{E22A2396-820C-6499-2EA4-614E5B621AE8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5327780" y="2721559"/>
            <a:ext cx="4572000" cy="5539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97553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A7EE0-73FC-FDBE-CF16-3B2FB620A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3D3F419-08EF-9CBD-8263-AA017A1E0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PIC 16F877A</a:t>
            </a:r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58A45AC6-61EC-B5C1-D510-FC6FB9657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tr-TR"/>
              <a:t>Adıyaman Üniversitesi Uzaktan Eğitim Uygulama ve Araştırma Merkezi</a:t>
            </a:r>
            <a:endParaRPr lang="tr-TR" dirty="0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6A816521-131D-E168-9C46-EFAB4AB09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0A2A-BC36-407E-86B9-E24EEBA61DF3}" type="slidenum">
              <a:rPr lang="tr-TR" smtClean="0"/>
              <a:pPr/>
              <a:t>38</a:t>
            </a:fld>
            <a:endParaRPr lang="tr-TR" dirty="0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2AB388E3-21B5-ED30-690B-B4B65A8DD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236" y="1540414"/>
            <a:ext cx="4782217" cy="4813837"/>
          </a:xfrm>
          <a:prstGeom prst="rect">
            <a:avLst/>
          </a:prstGeom>
        </p:spPr>
      </p:pic>
      <p:sp>
        <p:nvSpPr>
          <p:cNvPr id="3" name="Metin kutusu 2">
            <a:extLst>
              <a:ext uri="{FF2B5EF4-FFF2-40B4-BE49-F238E27FC236}">
                <a16:creationId xmlns:a16="http://schemas.microsoft.com/office/drawing/2014/main" id="{69295867-339C-3B2C-3C93-1F67BC9E28FD}"/>
              </a:ext>
            </a:extLst>
          </p:cNvPr>
          <p:cNvSpPr txBox="1"/>
          <p:nvPr/>
        </p:nvSpPr>
        <p:spPr>
          <a:xfrm>
            <a:off x="345234" y="1916007"/>
            <a:ext cx="4982546" cy="39703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r-TR" b="1"/>
              <a:t>Veri Yolu (Data Bus)</a:t>
            </a:r>
            <a:endParaRPr lang="tr-TR"/>
          </a:p>
          <a:p>
            <a:endParaRPr lang="tr-TR"/>
          </a:p>
          <a:p>
            <a:endParaRPr lang="tr-TR"/>
          </a:p>
          <a:p>
            <a:r>
              <a:rPr lang="tr-TR"/>
              <a:t>RAM, ALU, EEPROM ve I/O Portlarının tamamı bu hata bağlıdır.</a:t>
            </a:r>
          </a:p>
          <a:p>
            <a:endParaRPr lang="tr-TR"/>
          </a:p>
          <a:p>
            <a:r>
              <a:rPr lang="tr-TR"/>
              <a:t>Bir veri RAM'den alınıp ALU'ya gönderilecekse veya ALU'da üretilen bir sonuç bir porta iletilecekse, bu 8-bitlik yol kullanılır.</a:t>
            </a:r>
          </a:p>
          <a:p>
            <a:endParaRPr lang="tr-TR"/>
          </a:p>
          <a:p>
            <a:r>
              <a:rPr lang="tr-TR"/>
              <a:t>Veri yolu 8-bit olduğu için bu mikrodenetleyici "8-bitlik işlemci" olarak sınıflandırılır.</a:t>
            </a:r>
          </a:p>
        </p:txBody>
      </p:sp>
      <p:cxnSp>
        <p:nvCxnSpPr>
          <p:cNvPr id="8" name="Düz Ok Bağlayıcısı 7">
            <a:extLst>
              <a:ext uri="{FF2B5EF4-FFF2-40B4-BE49-F238E27FC236}">
                <a16:creationId xmlns:a16="http://schemas.microsoft.com/office/drawing/2014/main" id="{4E0D74DA-ECF6-E09F-5879-EEABC7CF102E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5327780" y="3901166"/>
            <a:ext cx="4469363" cy="577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36741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A153E-FBF4-23E2-4F03-E99C5AA1B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6281FA5-88C0-FBDE-6947-5408EF2A1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PIC 16F877A</a:t>
            </a:r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5DCCE6FE-437D-4161-03E9-A47E48F76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tr-TR"/>
              <a:t>Adıyaman Üniversitesi Uzaktan Eğitim Uygulama ve Araştırma Merkezi</a:t>
            </a:r>
            <a:endParaRPr lang="tr-TR" dirty="0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7F0F581D-28E8-2833-606A-4A6EC5295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0A2A-BC36-407E-86B9-E24EEBA61DF3}" type="slidenum">
              <a:rPr lang="tr-TR" smtClean="0"/>
              <a:pPr/>
              <a:t>39</a:t>
            </a:fld>
            <a:endParaRPr lang="tr-TR" dirty="0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EB6E49AD-97A9-A33F-9EDD-B9A896FC5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236" y="1540414"/>
            <a:ext cx="4782217" cy="4813837"/>
          </a:xfrm>
          <a:prstGeom prst="rect">
            <a:avLst/>
          </a:prstGeom>
        </p:spPr>
      </p:pic>
      <p:sp>
        <p:nvSpPr>
          <p:cNvPr id="3" name="Metin kutusu 2">
            <a:extLst>
              <a:ext uri="{FF2B5EF4-FFF2-40B4-BE49-F238E27FC236}">
                <a16:creationId xmlns:a16="http://schemas.microsoft.com/office/drawing/2014/main" id="{935D79F5-56D6-189C-9917-8DF61DEC705D}"/>
              </a:ext>
            </a:extLst>
          </p:cNvPr>
          <p:cNvSpPr txBox="1"/>
          <p:nvPr/>
        </p:nvSpPr>
        <p:spPr>
          <a:xfrm>
            <a:off x="345234" y="1916007"/>
            <a:ext cx="4982546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r-TR" b="1"/>
              <a:t>ALU (Aritmetik Mantık Birimi):</a:t>
            </a:r>
            <a:r>
              <a:rPr lang="tr-TR"/>
              <a:t> </a:t>
            </a:r>
          </a:p>
          <a:p>
            <a:endParaRPr lang="tr-TR"/>
          </a:p>
          <a:p>
            <a:r>
              <a:rPr lang="tr-TR"/>
              <a:t>Sistemin hesaplayıcısıdır. Toplama, çıkarma ve mantıksal karşılaştırmaları yapar.</a:t>
            </a:r>
          </a:p>
        </p:txBody>
      </p:sp>
      <p:cxnSp>
        <p:nvCxnSpPr>
          <p:cNvPr id="8" name="Düz Ok Bağlayıcısı 7">
            <a:extLst>
              <a:ext uri="{FF2B5EF4-FFF2-40B4-BE49-F238E27FC236}">
                <a16:creationId xmlns:a16="http://schemas.microsoft.com/office/drawing/2014/main" id="{A169CA2D-2C8B-5D99-6668-09B6F58A1FA1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5327780" y="2516172"/>
            <a:ext cx="2920481" cy="1785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12002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5CE3C-AB2F-7C44-5D2F-0E6FAB4E4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CDD8326-D88D-F2B7-8B9A-FA6134234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PIC 16F877A</a:t>
            </a:r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C2E43751-A915-053D-2BC3-584D14BD7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tr-TR"/>
              <a:t>Adıyaman Üniversitesi Uzaktan Eğitim Uygulama ve Araştırma Merkezi</a:t>
            </a:r>
            <a:endParaRPr lang="tr-TR" dirty="0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94875F64-7115-B3A4-CE66-F92043D65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0A2A-BC36-407E-86B9-E24EEBA61DF3}" type="slidenum">
              <a:rPr lang="tr-TR" smtClean="0"/>
              <a:pPr/>
              <a:t>40</a:t>
            </a:fld>
            <a:endParaRPr lang="tr-TR" dirty="0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EB3C5DB5-CE78-0A5B-762E-1A3C9D1DC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236" y="1540414"/>
            <a:ext cx="4782217" cy="4813837"/>
          </a:xfrm>
          <a:prstGeom prst="rect">
            <a:avLst/>
          </a:prstGeom>
        </p:spPr>
      </p:pic>
      <p:sp>
        <p:nvSpPr>
          <p:cNvPr id="3" name="Metin kutusu 2">
            <a:extLst>
              <a:ext uri="{FF2B5EF4-FFF2-40B4-BE49-F238E27FC236}">
                <a16:creationId xmlns:a16="http://schemas.microsoft.com/office/drawing/2014/main" id="{4C4E6FB5-64A6-F867-CBF8-2967A81117DF}"/>
              </a:ext>
            </a:extLst>
          </p:cNvPr>
          <p:cNvSpPr txBox="1"/>
          <p:nvPr/>
        </p:nvSpPr>
        <p:spPr>
          <a:xfrm>
            <a:off x="345234" y="1916007"/>
            <a:ext cx="4982546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r-TR" b="1"/>
              <a:t>Working Register (W - Çalışma Kayıtçısı):</a:t>
            </a:r>
          </a:p>
          <a:p>
            <a:endParaRPr lang="tr-TR" b="1"/>
          </a:p>
          <a:p>
            <a:r>
              <a:rPr lang="tr-TR"/>
              <a:t>ALU ile doğrudan bağlantılıdır. İşlem yapılacak veriler bazen W kayıtçısına alınıp sonra işlenir.</a:t>
            </a:r>
          </a:p>
        </p:txBody>
      </p:sp>
      <p:cxnSp>
        <p:nvCxnSpPr>
          <p:cNvPr id="8" name="Düz Ok Bağlayıcısı 7">
            <a:extLst>
              <a:ext uri="{FF2B5EF4-FFF2-40B4-BE49-F238E27FC236}">
                <a16:creationId xmlns:a16="http://schemas.microsoft.com/office/drawing/2014/main" id="{AE32AA64-71D6-CC8F-0FFD-99C75EAD16E2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5327780" y="2654671"/>
            <a:ext cx="2892489" cy="12175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64067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6B49C-3F03-5AFB-CC3B-36B51E6EA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BE97BA9-7948-9AA2-94A5-A113F5B09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PIC 16F877A</a:t>
            </a:r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31BC9C1C-E554-C0E0-77BA-DDCE6024E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tr-TR"/>
              <a:t>Adıyaman Üniversitesi Uzaktan Eğitim Uygulama ve Araştırma Merkezi</a:t>
            </a:r>
            <a:endParaRPr lang="tr-TR" dirty="0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4C3CF66D-ADA5-E1BA-05FC-D1A64D866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0A2A-BC36-407E-86B9-E24EEBA61DF3}" type="slidenum">
              <a:rPr lang="tr-TR" smtClean="0"/>
              <a:pPr/>
              <a:t>41</a:t>
            </a:fld>
            <a:endParaRPr lang="tr-TR" dirty="0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F8663EC3-6392-4CD5-A7C2-BED4A836A8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236" y="1540414"/>
            <a:ext cx="4782217" cy="4813837"/>
          </a:xfrm>
          <a:prstGeom prst="rect">
            <a:avLst/>
          </a:prstGeom>
        </p:spPr>
      </p:pic>
      <p:sp>
        <p:nvSpPr>
          <p:cNvPr id="3" name="Metin kutusu 2">
            <a:extLst>
              <a:ext uri="{FF2B5EF4-FFF2-40B4-BE49-F238E27FC236}">
                <a16:creationId xmlns:a16="http://schemas.microsoft.com/office/drawing/2014/main" id="{2A9D6D73-1ABE-C25A-AC57-C6DD33B46D36}"/>
              </a:ext>
            </a:extLst>
          </p:cNvPr>
          <p:cNvSpPr txBox="1"/>
          <p:nvPr/>
        </p:nvSpPr>
        <p:spPr>
          <a:xfrm>
            <a:off x="345234" y="1982895"/>
            <a:ext cx="4982546" cy="31393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r-TR" b="1"/>
              <a:t>Stack</a:t>
            </a:r>
            <a:endParaRPr lang="tr-TR"/>
          </a:p>
          <a:p>
            <a:endParaRPr lang="tr-TR"/>
          </a:p>
          <a:p>
            <a:r>
              <a:rPr lang="tr-TR"/>
              <a:t>Program akışında bir kesme veya alt program oluştuğunda, geri dönüş adresini saklayarak Program Counter'ın kaldığı yeri unutmamasını sağlar.</a:t>
            </a:r>
          </a:p>
          <a:p>
            <a:endParaRPr lang="tr-TR"/>
          </a:p>
          <a:p>
            <a:r>
              <a:rPr lang="tr-TR"/>
              <a:t>En fazla 8 tane 13-bit adres değerini saklayabilir. Eğer bu sayı aşılırsa ilk kaydedilmiş adresi kaldırılır ve onun yerine yeni adres yazılır.</a:t>
            </a:r>
          </a:p>
        </p:txBody>
      </p:sp>
      <p:cxnSp>
        <p:nvCxnSpPr>
          <p:cNvPr id="8" name="Düz Ok Bağlayıcısı 7">
            <a:extLst>
              <a:ext uri="{FF2B5EF4-FFF2-40B4-BE49-F238E27FC236}">
                <a16:creationId xmlns:a16="http://schemas.microsoft.com/office/drawing/2014/main" id="{7B68001A-6871-17A2-36E2-A47A11120885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5327780" y="2724539"/>
            <a:ext cx="3582955" cy="8280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01432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C858E-CC3B-972E-D13B-4192EEC9A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E8E37CA-DC2D-30F3-4B66-34348FD06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PIC 16F877A</a:t>
            </a:r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0C7E064F-58B4-82C2-4D11-60DECEC4A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tr-TR"/>
              <a:t>Adıyaman Üniversitesi Uzaktan Eğitim Uygulama ve Araştırma Merkezi</a:t>
            </a:r>
            <a:endParaRPr lang="tr-TR" dirty="0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FB4ADBC0-8087-D403-018A-BB368D8AF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0A2A-BC36-407E-86B9-E24EEBA61DF3}" type="slidenum">
              <a:rPr lang="tr-TR" smtClean="0"/>
              <a:pPr/>
              <a:t>42</a:t>
            </a:fld>
            <a:endParaRPr lang="tr-TR" dirty="0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A2CC052F-79FB-D287-F4EA-E8BFE9EDC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236" y="1540414"/>
            <a:ext cx="4782217" cy="4813837"/>
          </a:xfrm>
          <a:prstGeom prst="rect">
            <a:avLst/>
          </a:prstGeom>
        </p:spPr>
      </p:pic>
      <p:sp>
        <p:nvSpPr>
          <p:cNvPr id="3" name="Metin kutusu 2">
            <a:extLst>
              <a:ext uri="{FF2B5EF4-FFF2-40B4-BE49-F238E27FC236}">
                <a16:creationId xmlns:a16="http://schemas.microsoft.com/office/drawing/2014/main" id="{170A5306-CC56-616C-75F4-08D81591C846}"/>
              </a:ext>
            </a:extLst>
          </p:cNvPr>
          <p:cNvSpPr txBox="1"/>
          <p:nvPr/>
        </p:nvSpPr>
        <p:spPr>
          <a:xfrm>
            <a:off x="345234" y="1982895"/>
            <a:ext cx="4982546" cy="40318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r-TR" sz="1600" b="1"/>
              <a:t>EEPROM</a:t>
            </a:r>
            <a:endParaRPr lang="tr-TR" sz="1600"/>
          </a:p>
          <a:p>
            <a:endParaRPr lang="tr-TR" sz="1600"/>
          </a:p>
          <a:p>
            <a:r>
              <a:rPr lang="tr-TR" sz="1600" b="1"/>
              <a:t>8-bitlik Veri Yolu (Data Bus)</a:t>
            </a:r>
            <a:r>
              <a:rPr lang="tr-TR" sz="1600"/>
              <a:t> hattına doğrudan bağlı ayrı bir bellek bloğudur.</a:t>
            </a:r>
          </a:p>
          <a:p>
            <a:endParaRPr lang="tr-TR" sz="1600"/>
          </a:p>
          <a:p>
            <a:r>
              <a:rPr lang="tr-TR" sz="1600"/>
              <a:t>Mikrodenetleyicinin enerjisi kesilse dahi içindeki bilgileri korur. </a:t>
            </a:r>
          </a:p>
          <a:p>
            <a:endParaRPr lang="tr-TR" sz="1600"/>
          </a:p>
          <a:p>
            <a:r>
              <a:rPr lang="tr-TR" sz="1600"/>
              <a:t>Flash bellekten ayrı konumlandırılmasının sebebi, Flash belleğin </a:t>
            </a:r>
            <a:r>
              <a:rPr lang="tr-TR" sz="1600" b="1"/>
              <a:t>komutları</a:t>
            </a:r>
            <a:r>
              <a:rPr lang="tr-TR" sz="1600"/>
              <a:t> saklaması, EEPROM'un ise çalışma sırasında değişebilen kullanıcı </a:t>
            </a:r>
            <a:r>
              <a:rPr lang="tr-TR" sz="1600" b="1"/>
              <a:t>verilerini</a:t>
            </a:r>
            <a:r>
              <a:rPr lang="tr-TR" sz="1600"/>
              <a:t> saklamasıdır.</a:t>
            </a:r>
          </a:p>
          <a:p>
            <a:endParaRPr lang="tr-TR" sz="1600"/>
          </a:p>
          <a:p>
            <a:r>
              <a:rPr lang="tr-TR" sz="1600"/>
              <a:t>Kullanıcının belirlediği bir set değeri (örneğin bir termostattaki hedef sıcaklık), cihaz kapansa da EEPROM’da saklanır.</a:t>
            </a:r>
          </a:p>
        </p:txBody>
      </p:sp>
      <p:cxnSp>
        <p:nvCxnSpPr>
          <p:cNvPr id="8" name="Düz Ok Bağlayıcısı 7">
            <a:extLst>
              <a:ext uri="{FF2B5EF4-FFF2-40B4-BE49-F238E27FC236}">
                <a16:creationId xmlns:a16="http://schemas.microsoft.com/office/drawing/2014/main" id="{5EBC7CFD-9913-07D1-7641-377C6280CB50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5327780" y="3998832"/>
            <a:ext cx="4348065" cy="9650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48147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C8815-91DA-81E7-0794-50350A010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7ED3DC8-0CA1-6EC9-79BC-53BE7590D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PIC 16F877A</a:t>
            </a:r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7512F8C5-84DC-16BF-2739-E120E8E0E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tr-TR"/>
              <a:t>Adıyaman Üniversitesi Uzaktan Eğitim Uygulama ve Araştırma Merkezi</a:t>
            </a:r>
            <a:endParaRPr lang="tr-TR" dirty="0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05A1F28A-3648-C477-846D-CF58BCE16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0A2A-BC36-407E-86B9-E24EEBA61DF3}" type="slidenum">
              <a:rPr lang="tr-TR" smtClean="0"/>
              <a:pPr/>
              <a:t>43</a:t>
            </a:fld>
            <a:endParaRPr lang="tr-TR" dirty="0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2DAFE0E3-0488-8E87-3B2E-79BFCBD01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236" y="1540414"/>
            <a:ext cx="4782217" cy="4813837"/>
          </a:xfrm>
          <a:prstGeom prst="rect">
            <a:avLst/>
          </a:prstGeom>
        </p:spPr>
      </p:pic>
      <p:sp>
        <p:nvSpPr>
          <p:cNvPr id="3" name="Metin kutusu 2">
            <a:extLst>
              <a:ext uri="{FF2B5EF4-FFF2-40B4-BE49-F238E27FC236}">
                <a16:creationId xmlns:a16="http://schemas.microsoft.com/office/drawing/2014/main" id="{FE7FC657-362D-2770-EA35-1058B97778AF}"/>
              </a:ext>
            </a:extLst>
          </p:cNvPr>
          <p:cNvSpPr txBox="1"/>
          <p:nvPr/>
        </p:nvSpPr>
        <p:spPr>
          <a:xfrm>
            <a:off x="345234" y="1982895"/>
            <a:ext cx="4982546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r-TR" b="1"/>
              <a:t>Ports</a:t>
            </a:r>
            <a:endParaRPr lang="tr-TR"/>
          </a:p>
          <a:p>
            <a:endParaRPr lang="tr-TR"/>
          </a:p>
          <a:p>
            <a:r>
              <a:rPr lang="tr-TR" b="1"/>
              <a:t>Ports (A, B, C, D, E):</a:t>
            </a:r>
            <a:r>
              <a:rPr lang="tr-TR"/>
              <a:t> Diyagramın en altında yer alan bu blok, Veri Yolu'ndan gelen dijital bilgiyi fiziksel dünyaya (pinlere) aktarır veya pinlerden gelen bilgiyi Veri Yolu üzerinden işlemciye sunar.</a:t>
            </a:r>
          </a:p>
        </p:txBody>
      </p:sp>
      <p:cxnSp>
        <p:nvCxnSpPr>
          <p:cNvPr id="8" name="Düz Ok Bağlayıcısı 7">
            <a:extLst>
              <a:ext uri="{FF2B5EF4-FFF2-40B4-BE49-F238E27FC236}">
                <a16:creationId xmlns:a16="http://schemas.microsoft.com/office/drawing/2014/main" id="{62E405A1-5584-8C97-9DC2-E48DA1915162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5327780" y="2998558"/>
            <a:ext cx="4320073" cy="2422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17511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8106D-D565-778B-7DFB-1836FBCBA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şlık 6">
            <a:extLst>
              <a:ext uri="{FF2B5EF4-FFF2-40B4-BE49-F238E27FC236}">
                <a16:creationId xmlns:a16="http://schemas.microsoft.com/office/drawing/2014/main" id="{905B64CC-9FDF-1029-4F34-3E825DAD8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Hafıza Yönetimi(Memory Organization)</a:t>
            </a:r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65E352A9-0D5A-02A8-2CA9-C7B2D8713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0A2A-BC36-407E-86B9-E24EEBA61DF3}" type="slidenum">
              <a:rPr lang="tr-TR" smtClean="0"/>
              <a:pPr/>
              <a:t>44</a:t>
            </a:fld>
            <a:endParaRPr lang="tr-TR" dirty="0"/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DB19824A-DAE7-003B-7E32-077116C6A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tr-TR"/>
              <a:t>PIC16F877 mikrodenetleyicisinin belleğinde 3 farklı bellek türü bulunmaktadır:</a:t>
            </a:r>
          </a:p>
          <a:p>
            <a:pPr algn="l"/>
            <a:endParaRPr lang="tr-TR"/>
          </a:p>
          <a:p>
            <a:pPr algn="l"/>
            <a:r>
              <a:rPr lang="tr-TR" b="1"/>
              <a:t>1. Program Belleği (Program Memory):</a:t>
            </a:r>
            <a:r>
              <a:rPr lang="tr-TR"/>
              <a:t> Yazdığımız programın, "yükleme" (burning) işleminden sonra saklandığı bellektir. </a:t>
            </a:r>
            <a:r>
              <a:rPr lang="tr-TR" b="1"/>
              <a:t>Program Sayacı (Program Counter)</a:t>
            </a:r>
            <a:r>
              <a:rPr lang="tr-TR"/>
              <a:t>, bu bellekte depolanan komutları sırasıyla birer birer icra eder.</a:t>
            </a:r>
          </a:p>
        </p:txBody>
      </p:sp>
    </p:spTree>
    <p:extLst>
      <p:ext uri="{BB962C8B-B14F-4D97-AF65-F5344CB8AC3E}">
        <p14:creationId xmlns:p14="http://schemas.microsoft.com/office/powerpoint/2010/main" val="40885463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79E9B-5C24-C673-5A7A-8A968DFC7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şlık 6">
            <a:extLst>
              <a:ext uri="{FF2B5EF4-FFF2-40B4-BE49-F238E27FC236}">
                <a16:creationId xmlns:a16="http://schemas.microsoft.com/office/drawing/2014/main" id="{62E6F745-8AB8-88D1-517D-F71118308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Program Belleği</a:t>
            </a:r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8735628F-34CE-0871-A75C-E509C5B6B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0A2A-BC36-407E-86B9-E24EEBA61DF3}" type="slidenum">
              <a:rPr lang="tr-TR" smtClean="0"/>
              <a:pPr/>
              <a:t>45</a:t>
            </a:fld>
            <a:endParaRPr lang="tr-TR" dirty="0"/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DD6B892E-E71D-6631-4396-C11A5006D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2865" y="1467514"/>
            <a:ext cx="3429479" cy="4959639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A968FB1D-F4B9-3B51-3EC1-435AC65E5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236" y="1540414"/>
            <a:ext cx="4782217" cy="4813837"/>
          </a:xfrm>
          <a:prstGeom prst="rect">
            <a:avLst/>
          </a:prstGeom>
        </p:spPr>
      </p:pic>
      <p:cxnSp>
        <p:nvCxnSpPr>
          <p:cNvPr id="11" name="Düz Ok Bağlayıcısı 10">
            <a:extLst>
              <a:ext uri="{FF2B5EF4-FFF2-40B4-BE49-F238E27FC236}">
                <a16:creationId xmlns:a16="http://schemas.microsoft.com/office/drawing/2014/main" id="{07DEF9B8-8484-9282-BCFE-EA55B1851CD3}"/>
              </a:ext>
            </a:extLst>
          </p:cNvPr>
          <p:cNvCxnSpPr>
            <a:cxnSpLocks/>
          </p:cNvCxnSpPr>
          <p:nvPr/>
        </p:nvCxnSpPr>
        <p:spPr>
          <a:xfrm flipV="1">
            <a:off x="4572000" y="2248678"/>
            <a:ext cx="2509935" cy="23979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5" name="Metin kutusu 24">
            <a:extLst>
              <a:ext uri="{FF2B5EF4-FFF2-40B4-BE49-F238E27FC236}">
                <a16:creationId xmlns:a16="http://schemas.microsoft.com/office/drawing/2014/main" id="{95B8E347-78F4-3CA4-D04A-A191518ACC68}"/>
              </a:ext>
            </a:extLst>
          </p:cNvPr>
          <p:cNvSpPr txBox="1"/>
          <p:nvPr/>
        </p:nvSpPr>
        <p:spPr>
          <a:xfrm>
            <a:off x="41767" y="4357396"/>
            <a:ext cx="296427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600"/>
              <a:t>Sayfalar geriye kalan 11 bit </a:t>
            </a:r>
          </a:p>
          <a:p>
            <a:r>
              <a:rPr lang="tr-TR" sz="1600"/>
              <a:t>için en fazla </a:t>
            </a:r>
            <a:r>
              <a:rPr lang="tr-TR" sz="1600" b="1"/>
              <a:t>2048</a:t>
            </a:r>
            <a:r>
              <a:rPr lang="tr-TR" sz="1600"/>
              <a:t> adres </a:t>
            </a:r>
          </a:p>
          <a:p>
            <a:r>
              <a:rPr lang="tr-TR" sz="1600"/>
              <a:t>tutabilir</a:t>
            </a:r>
          </a:p>
          <a:p>
            <a:endParaRPr lang="tr-TR" sz="1600"/>
          </a:p>
          <a:p>
            <a:r>
              <a:rPr lang="tr-TR" sz="1600"/>
              <a:t>Hangi sayfanın kullanılacağı</a:t>
            </a:r>
          </a:p>
          <a:p>
            <a:r>
              <a:rPr lang="tr-TR" sz="1600"/>
              <a:t>bilgisi </a:t>
            </a:r>
            <a:r>
              <a:rPr lang="tr-TR" sz="1600" b="1"/>
              <a:t>PCLATCH</a:t>
            </a:r>
            <a:r>
              <a:rPr lang="tr-TR" sz="1600"/>
              <a:t> register’ında</a:t>
            </a:r>
          </a:p>
          <a:p>
            <a:r>
              <a:rPr lang="tr-TR" sz="1600"/>
              <a:t>ki 2-bitlik veriden gelir.</a:t>
            </a:r>
          </a:p>
        </p:txBody>
      </p:sp>
      <p:sp>
        <p:nvSpPr>
          <p:cNvPr id="26" name="Metin kutusu 25">
            <a:extLst>
              <a:ext uri="{FF2B5EF4-FFF2-40B4-BE49-F238E27FC236}">
                <a16:creationId xmlns:a16="http://schemas.microsoft.com/office/drawing/2014/main" id="{341AAD71-DBFA-18FC-6D5D-5E6C92703CAE}"/>
              </a:ext>
            </a:extLst>
          </p:cNvPr>
          <p:cNvSpPr txBox="1"/>
          <p:nvPr/>
        </p:nvSpPr>
        <p:spPr>
          <a:xfrm>
            <a:off x="16868" y="2644170"/>
            <a:ext cx="300755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600"/>
              <a:t>Eğer </a:t>
            </a:r>
            <a:r>
              <a:rPr lang="tr-TR" sz="1600" b="1"/>
              <a:t>GOTO</a:t>
            </a:r>
            <a:r>
              <a:rPr lang="tr-TR" sz="1600"/>
              <a:t> veya </a:t>
            </a:r>
            <a:r>
              <a:rPr lang="tr-TR" sz="1600" b="1"/>
              <a:t>CALL</a:t>
            </a:r>
            <a:r>
              <a:rPr lang="tr-TR" sz="1600"/>
              <a:t> </a:t>
            </a:r>
          </a:p>
          <a:p>
            <a:r>
              <a:rPr lang="tr-TR" sz="1600"/>
              <a:t>komutları program içerisinde</a:t>
            </a:r>
          </a:p>
          <a:p>
            <a:r>
              <a:rPr lang="tr-TR" sz="1600"/>
              <a:t>kullanılmışsa:</a:t>
            </a:r>
          </a:p>
          <a:p>
            <a:endParaRPr lang="tr-TR" sz="1600" b="1"/>
          </a:p>
          <a:p>
            <a:r>
              <a:rPr lang="tr-TR" sz="1600" b="1"/>
              <a:t>3 bit:</a:t>
            </a:r>
            <a:r>
              <a:rPr lang="tr-TR" sz="1600"/>
              <a:t> "GOTO" veya "CALL" </a:t>
            </a:r>
          </a:p>
          <a:p>
            <a:r>
              <a:rPr lang="tr-TR" sz="1600"/>
              <a:t>emirleri için ayrılmıştır.</a:t>
            </a:r>
          </a:p>
        </p:txBody>
      </p:sp>
      <p:cxnSp>
        <p:nvCxnSpPr>
          <p:cNvPr id="28" name="Düz Ok Bağlayıcısı 27">
            <a:extLst>
              <a:ext uri="{FF2B5EF4-FFF2-40B4-BE49-F238E27FC236}">
                <a16:creationId xmlns:a16="http://schemas.microsoft.com/office/drawing/2014/main" id="{6B51D27D-E63F-F028-99CF-425B3054A1CD}"/>
              </a:ext>
            </a:extLst>
          </p:cNvPr>
          <p:cNvCxnSpPr>
            <a:cxnSpLocks/>
          </p:cNvCxnSpPr>
          <p:nvPr/>
        </p:nvCxnSpPr>
        <p:spPr>
          <a:xfrm flipH="1" flipV="1">
            <a:off x="9573208" y="2155371"/>
            <a:ext cx="345233" cy="64381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51464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09EB7-F2DF-7594-919E-06BE440A9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şlık 6">
            <a:extLst>
              <a:ext uri="{FF2B5EF4-FFF2-40B4-BE49-F238E27FC236}">
                <a16:creationId xmlns:a16="http://schemas.microsoft.com/office/drawing/2014/main" id="{E5A02871-F3D4-47B5-EB6F-6995C1A82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Program Belleği</a:t>
            </a:r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D17F75FC-B42F-FD96-48DF-B9BE433A5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0A2A-BC36-407E-86B9-E24EEBA61DF3}" type="slidenum">
              <a:rPr lang="tr-TR" smtClean="0"/>
              <a:pPr/>
              <a:t>46</a:t>
            </a:fld>
            <a:endParaRPr lang="tr-TR" dirty="0"/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B221264E-6B52-F9D1-4633-587169A4D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2865" y="1467514"/>
            <a:ext cx="3429479" cy="4959639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29830296-63FD-61A1-A209-C3ACC78919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236" y="1540414"/>
            <a:ext cx="4782217" cy="4813837"/>
          </a:xfrm>
          <a:prstGeom prst="rect">
            <a:avLst/>
          </a:prstGeom>
        </p:spPr>
      </p:pic>
      <p:cxnSp>
        <p:nvCxnSpPr>
          <p:cNvPr id="13" name="Düz Ok Bağlayıcısı 12">
            <a:extLst>
              <a:ext uri="{FF2B5EF4-FFF2-40B4-BE49-F238E27FC236}">
                <a16:creationId xmlns:a16="http://schemas.microsoft.com/office/drawing/2014/main" id="{5C2AF4AC-4399-1012-1230-956C6F2ED7CC}"/>
              </a:ext>
            </a:extLst>
          </p:cNvPr>
          <p:cNvCxnSpPr>
            <a:cxnSpLocks/>
          </p:cNvCxnSpPr>
          <p:nvPr/>
        </p:nvCxnSpPr>
        <p:spPr>
          <a:xfrm>
            <a:off x="4572000" y="2799185"/>
            <a:ext cx="434806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Metin kutusu 25">
            <a:extLst>
              <a:ext uri="{FF2B5EF4-FFF2-40B4-BE49-F238E27FC236}">
                <a16:creationId xmlns:a16="http://schemas.microsoft.com/office/drawing/2014/main" id="{397FF6E5-7FF1-ABDA-C147-E0157E06C17E}"/>
              </a:ext>
            </a:extLst>
          </p:cNvPr>
          <p:cNvSpPr txBox="1"/>
          <p:nvPr/>
        </p:nvSpPr>
        <p:spPr>
          <a:xfrm>
            <a:off x="-76438" y="2644170"/>
            <a:ext cx="3108543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600"/>
              <a:t>Stack 8 seviyeli (8-level deep)</a:t>
            </a:r>
          </a:p>
          <a:p>
            <a:r>
              <a:rPr lang="tr-TR" sz="1600"/>
              <a:t>bir yapıdadır. </a:t>
            </a:r>
            <a:r>
              <a:rPr lang="en-US" sz="1600"/>
              <a:t>Her stack </a:t>
            </a:r>
            <a:endParaRPr lang="tr-TR" sz="1600"/>
          </a:p>
          <a:p>
            <a:r>
              <a:rPr lang="en-US" sz="1600"/>
              <a:t>hücresi </a:t>
            </a:r>
            <a:r>
              <a:rPr lang="en-US" sz="1600" b="1"/>
              <a:t>13 bit genişliğindedir</a:t>
            </a:r>
            <a:r>
              <a:rPr lang="en-US" sz="1600"/>
              <a:t>.</a:t>
            </a:r>
            <a:endParaRPr lang="tr-TR" sz="1600"/>
          </a:p>
          <a:p>
            <a:endParaRPr lang="tr-TR" sz="1600"/>
          </a:p>
          <a:p>
            <a:r>
              <a:rPr lang="tr-TR" sz="1600"/>
              <a:t>Stack aynı anda en fazla</a:t>
            </a:r>
            <a:r>
              <a:rPr lang="tr-TR" sz="1600" b="1"/>
              <a:t> </a:t>
            </a:r>
            <a:r>
              <a:rPr lang="tr-TR" sz="1600"/>
              <a:t>8 </a:t>
            </a:r>
          </a:p>
          <a:p>
            <a:r>
              <a:rPr lang="tr-TR" sz="1600"/>
              <a:t>adet</a:t>
            </a:r>
            <a:r>
              <a:rPr lang="tr-TR" sz="1600" b="1"/>
              <a:t> dönüş adresi</a:t>
            </a:r>
            <a:r>
              <a:rPr lang="tr-TR" sz="1600"/>
              <a:t> tutabilir.</a:t>
            </a:r>
          </a:p>
          <a:p>
            <a:endParaRPr lang="tr-TR" sz="1600"/>
          </a:p>
          <a:p>
            <a:r>
              <a:rPr lang="tr-TR" sz="1600"/>
              <a:t>Stack program veya veri </a:t>
            </a:r>
          </a:p>
          <a:p>
            <a:r>
              <a:rPr lang="tr-TR" sz="1600"/>
              <a:t>hafızasında değildir. Yazılımla</a:t>
            </a:r>
          </a:p>
          <a:p>
            <a:r>
              <a:rPr lang="tr-TR" sz="1600"/>
              <a:t>doğrudan erişilmez.</a:t>
            </a:r>
          </a:p>
          <a:p>
            <a:endParaRPr lang="tr-TR" sz="1600"/>
          </a:p>
          <a:p>
            <a:r>
              <a:rPr lang="tr-TR" sz="1600"/>
              <a:t>Push ve pop işlemlerini </a:t>
            </a:r>
            <a:r>
              <a:rPr lang="tr-TR" sz="1600" b="1"/>
              <a:t>CALL</a:t>
            </a:r>
            <a:r>
              <a:rPr lang="tr-TR" sz="1600"/>
              <a:t> </a:t>
            </a:r>
          </a:p>
          <a:p>
            <a:r>
              <a:rPr lang="tr-TR" sz="1600"/>
              <a:t>ve </a:t>
            </a:r>
            <a:r>
              <a:rPr lang="tr-TR" sz="1600" b="1"/>
              <a:t>RETURN</a:t>
            </a:r>
            <a:r>
              <a:rPr lang="tr-TR" sz="1600"/>
              <a:t> ifadelerine göre </a:t>
            </a:r>
          </a:p>
          <a:p>
            <a:r>
              <a:rPr lang="tr-TR" sz="1600"/>
              <a:t>mikrodenetleyici otomatik </a:t>
            </a:r>
          </a:p>
          <a:p>
            <a:r>
              <a:rPr lang="tr-TR" sz="1600"/>
              <a:t>yapar.</a:t>
            </a:r>
          </a:p>
        </p:txBody>
      </p:sp>
      <p:cxnSp>
        <p:nvCxnSpPr>
          <p:cNvPr id="28" name="Düz Ok Bağlayıcısı 27">
            <a:extLst>
              <a:ext uri="{FF2B5EF4-FFF2-40B4-BE49-F238E27FC236}">
                <a16:creationId xmlns:a16="http://schemas.microsoft.com/office/drawing/2014/main" id="{94FAEABF-9618-B907-FAB4-EC8BA0BF0F94}"/>
              </a:ext>
            </a:extLst>
          </p:cNvPr>
          <p:cNvCxnSpPr>
            <a:cxnSpLocks/>
          </p:cNvCxnSpPr>
          <p:nvPr/>
        </p:nvCxnSpPr>
        <p:spPr>
          <a:xfrm flipH="1" flipV="1">
            <a:off x="9573208" y="2155371"/>
            <a:ext cx="345233" cy="64381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930208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0F27A-075D-1896-2C8A-825452651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şlık 6">
            <a:extLst>
              <a:ext uri="{FF2B5EF4-FFF2-40B4-BE49-F238E27FC236}">
                <a16:creationId xmlns:a16="http://schemas.microsoft.com/office/drawing/2014/main" id="{8A0C1DB5-2632-8D24-A5BE-C5BAAABEE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Hafıza Yönetimi(Memory Organization)</a:t>
            </a:r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704D27B2-418F-2A6D-E7D1-69936501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0A2A-BC36-407E-86B9-E24EEBA61DF3}" type="slidenum">
              <a:rPr lang="tr-TR" smtClean="0"/>
              <a:pPr/>
              <a:t>47</a:t>
            </a:fld>
            <a:endParaRPr lang="tr-TR" dirty="0"/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D6725BF9-E6A8-7A45-C98B-ECC0C23D3B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tr-TR" b="1"/>
              <a:t>2. Veri Belleği (Data Memory):</a:t>
            </a:r>
            <a:r>
              <a:rPr lang="tr-TR"/>
              <a:t> Bu bir </a:t>
            </a:r>
            <a:r>
              <a:rPr lang="tr-TR" b="1"/>
              <a:t>RAM</a:t>
            </a:r>
            <a:r>
              <a:rPr lang="tr-TR"/>
              <a:t> bellek tipidir. İçerisinde </a:t>
            </a:r>
            <a:r>
              <a:rPr lang="tr-TR" b="1"/>
              <a:t>SFR</a:t>
            </a:r>
            <a:r>
              <a:rPr lang="tr-TR"/>
              <a:t> (Özel Fonksiyon Kayıtçıları-Port,interrupt gibi donanım kontrolü) ve </a:t>
            </a:r>
            <a:r>
              <a:rPr lang="tr-TR" b="1"/>
              <a:t>GPR</a:t>
            </a:r>
            <a:r>
              <a:rPr lang="tr-TR"/>
              <a:t> (Genel Amaçlı Kayıtçılar-programımızdaki değişkenler) gibi özel kayıtçıları barındırır. Program çalışırken bu bellek üzerinde sakladığımız değişkenler, mikrodenetleyicinin enerjisi kesildiğinde kaybolur.</a:t>
            </a:r>
          </a:p>
          <a:p>
            <a:endParaRPr lang="tr-TR"/>
          </a:p>
          <a:p>
            <a:pPr algn="l"/>
            <a:r>
              <a:rPr lang="tr-TR" b="1"/>
              <a:t>Not:</a:t>
            </a:r>
            <a:r>
              <a:rPr lang="tr-TR"/>
              <a:t> Bu iki bellek tipi (Program ve Veri), birbirinden ayrı veri yollarına (</a:t>
            </a:r>
            <a:r>
              <a:rPr lang="tr-TR" b="1"/>
              <a:t>Data Bus</a:t>
            </a:r>
            <a:r>
              <a:rPr lang="tr-TR"/>
              <a:t>) sahiptir. Bu sayede, her iki belleğe de erişimi oldukça kolay ve hızlı hale gelir.</a:t>
            </a:r>
          </a:p>
        </p:txBody>
      </p:sp>
    </p:spTree>
    <p:extLst>
      <p:ext uri="{BB962C8B-B14F-4D97-AF65-F5344CB8AC3E}">
        <p14:creationId xmlns:p14="http://schemas.microsoft.com/office/powerpoint/2010/main" val="329621715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3F958-3608-2B24-9E3B-68366D35A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şlık 6">
            <a:extLst>
              <a:ext uri="{FF2B5EF4-FFF2-40B4-BE49-F238E27FC236}">
                <a16:creationId xmlns:a16="http://schemas.microsoft.com/office/drawing/2014/main" id="{288B917B-B21F-D964-9687-8C3568103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Hafıza Yönetimi(Memory Organization)</a:t>
            </a:r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8AA37EE5-4083-3F7C-CE4E-A517FEF86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0A2A-BC36-407E-86B9-E24EEBA61DF3}" type="slidenum">
              <a:rPr lang="tr-TR" smtClean="0"/>
              <a:pPr/>
              <a:t>48</a:t>
            </a:fld>
            <a:endParaRPr lang="tr-TR" dirty="0"/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D7E0D436-2AD9-84A8-8F9B-F3BCB9BCE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tr-TR" b="1"/>
              <a:t>3. Veri EEPROM (Elektriksel Olarak Silinebilir Programlanabilir Salt Okunur Bellek):</a:t>
            </a:r>
            <a:r>
              <a:rPr lang="tr-TR"/>
              <a:t> Yazılan programın yüklenmesi sonucunda, değişkenlerin kalıcı olarak saklanmasına olanak tanıyan bellek türüdür. RAM'den farklı olarak, enerji kesilse bile buradaki bilgiler silinmez.</a:t>
            </a:r>
          </a:p>
        </p:txBody>
      </p:sp>
    </p:spTree>
    <p:extLst>
      <p:ext uri="{BB962C8B-B14F-4D97-AF65-F5344CB8AC3E}">
        <p14:creationId xmlns:p14="http://schemas.microsoft.com/office/powerpoint/2010/main" val="17021035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Yer Tutucusu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tr-TR"/>
              <a:t>Dr. Öğr. Üyesi Hüseyin VURAL</a:t>
            </a:r>
            <a:endParaRPr lang="tr-TR" dirty="0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Adıyaman Üniversitesi Uzaktan Eğitim Uygulama ve Araştırma Merkezi</a:t>
            </a:r>
            <a:endParaRPr lang="tr-TR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tr-TR"/>
              <a:t>Assembly Dili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217720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unum_sablonu.potx" id="{303B5FB1-CC73-4FFC-9EC6-E54012196DD4}" vid="{2B36A2BB-FE14-4F86-B05C-00B34BF21176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8638</TotalTime>
  <Words>2828</Words>
  <Application>Microsoft Office PowerPoint</Application>
  <PresentationFormat>Geniş ekran</PresentationFormat>
  <Paragraphs>471</Paragraphs>
  <Slides>49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49</vt:i4>
      </vt:variant>
    </vt:vector>
  </HeadingPairs>
  <TitlesOfParts>
    <vt:vector size="55" baseType="lpstr">
      <vt:lpstr>Arial</vt:lpstr>
      <vt:lpstr>Calibri</vt:lpstr>
      <vt:lpstr>Century Gothic</vt:lpstr>
      <vt:lpstr>Google Sans Text</vt:lpstr>
      <vt:lpstr>Wingdings</vt:lpstr>
      <vt:lpstr>Office Teması</vt:lpstr>
      <vt:lpstr>PowerPoint Sunusu</vt:lpstr>
      <vt:lpstr>Mikrodenetleyici</vt:lpstr>
      <vt:lpstr>Mikrodenetleyici Seçimi</vt:lpstr>
      <vt:lpstr>Mikrodenetleyici Seçimi</vt:lpstr>
      <vt:lpstr>Mikrodenetleyici Seçimi</vt:lpstr>
      <vt:lpstr>Mikrodenetleyici Seçimi</vt:lpstr>
      <vt:lpstr>Mikrodenetleyici Seçimi</vt:lpstr>
      <vt:lpstr>Mikrodenetleyici Seçimi</vt:lpstr>
      <vt:lpstr>Mikrodenetleyici Seçimi</vt:lpstr>
      <vt:lpstr>PIC Mikrodenetleyicilerin Avantajları</vt:lpstr>
      <vt:lpstr>PIC Mikrodenetleyicilerin Avantajları</vt:lpstr>
      <vt:lpstr>Sensörler ve Mikrodenetleyiciler</vt:lpstr>
      <vt:lpstr>PIC 16F877A</vt:lpstr>
      <vt:lpstr>PIC 16F877A</vt:lpstr>
      <vt:lpstr>PIC 16F877A</vt:lpstr>
      <vt:lpstr>PIC 16F877A</vt:lpstr>
      <vt:lpstr>PIC 16F877A</vt:lpstr>
      <vt:lpstr>Güç ve Kontrol Hatları</vt:lpstr>
      <vt:lpstr>PORT A</vt:lpstr>
      <vt:lpstr>PORT B</vt:lpstr>
      <vt:lpstr>PORT C</vt:lpstr>
      <vt:lpstr>PORT D</vt:lpstr>
      <vt:lpstr>PORT E</vt:lpstr>
      <vt:lpstr>PIC 16F877A</vt:lpstr>
      <vt:lpstr>PIC 16F877A</vt:lpstr>
      <vt:lpstr>PIC 16F877A</vt:lpstr>
      <vt:lpstr>PowerPoint Sunusu</vt:lpstr>
      <vt:lpstr>PIC 16F877A</vt:lpstr>
      <vt:lpstr>PIC 16F877A</vt:lpstr>
      <vt:lpstr>PIC 16F877A</vt:lpstr>
      <vt:lpstr>PIC 16F877A</vt:lpstr>
      <vt:lpstr>PIC 16F877A</vt:lpstr>
      <vt:lpstr>PIC 16F877A</vt:lpstr>
      <vt:lpstr>PIC 16F877A</vt:lpstr>
      <vt:lpstr>PIC 16F877A</vt:lpstr>
      <vt:lpstr>PIC 16F877A</vt:lpstr>
      <vt:lpstr>PIC 16F877A</vt:lpstr>
      <vt:lpstr>PIC 16F877A</vt:lpstr>
      <vt:lpstr>PIC 16F877A</vt:lpstr>
      <vt:lpstr>PIC 16F877A</vt:lpstr>
      <vt:lpstr>PIC 16F877A</vt:lpstr>
      <vt:lpstr>PIC 16F877A</vt:lpstr>
      <vt:lpstr>PIC 16F877A</vt:lpstr>
      <vt:lpstr>Hafıza Yönetimi(Memory Organization)</vt:lpstr>
      <vt:lpstr>Program Belleği</vt:lpstr>
      <vt:lpstr>Program Belleği</vt:lpstr>
      <vt:lpstr>Hafıza Yönetimi(Memory Organization)</vt:lpstr>
      <vt:lpstr>Hafıza Yönetimi(Memory Organization)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Dr. Öğr. Üyesi HÜSEYİN VURAL</dc:creator>
  <cp:keywords>2022</cp:keywords>
  <cp:lastModifiedBy>Dr. Öğr. Üyesi HÜSEYİN VURAL</cp:lastModifiedBy>
  <cp:revision>1558</cp:revision>
  <dcterms:created xsi:type="dcterms:W3CDTF">2023-10-12T11:46:59Z</dcterms:created>
  <dcterms:modified xsi:type="dcterms:W3CDTF">2026-03-16T11:26:12Z</dcterms:modified>
</cp:coreProperties>
</file>